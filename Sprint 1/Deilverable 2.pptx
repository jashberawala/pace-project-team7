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6" r:id="rId2"/>
  </p:sldMasterIdLst>
  <p:notesMasterIdLst>
    <p:notesMasterId r:id="rId43"/>
  </p:notesMasterIdLst>
  <p:sldIdLst>
    <p:sldId id="257" r:id="rId3"/>
    <p:sldId id="259" r:id="rId4"/>
    <p:sldId id="256" r:id="rId5"/>
    <p:sldId id="260" r:id="rId6"/>
    <p:sldId id="258" r:id="rId7"/>
    <p:sldId id="262" r:id="rId8"/>
    <p:sldId id="305" r:id="rId9"/>
    <p:sldId id="261" r:id="rId10"/>
    <p:sldId id="296" r:id="rId11"/>
    <p:sldId id="297" r:id="rId12"/>
    <p:sldId id="298" r:id="rId13"/>
    <p:sldId id="263" r:id="rId14"/>
    <p:sldId id="265" r:id="rId15"/>
    <p:sldId id="266" r:id="rId16"/>
    <p:sldId id="299" r:id="rId17"/>
    <p:sldId id="267" r:id="rId18"/>
    <p:sldId id="273" r:id="rId19"/>
    <p:sldId id="269" r:id="rId20"/>
    <p:sldId id="270" r:id="rId21"/>
    <p:sldId id="274" r:id="rId22"/>
    <p:sldId id="271" r:id="rId23"/>
    <p:sldId id="272" r:id="rId24"/>
    <p:sldId id="268" r:id="rId25"/>
    <p:sldId id="275" r:id="rId26"/>
    <p:sldId id="300" r:id="rId27"/>
    <p:sldId id="276" r:id="rId28"/>
    <p:sldId id="281" r:id="rId29"/>
    <p:sldId id="280" r:id="rId30"/>
    <p:sldId id="277" r:id="rId31"/>
    <p:sldId id="278" r:id="rId32"/>
    <p:sldId id="306" r:id="rId33"/>
    <p:sldId id="283" r:id="rId34"/>
    <p:sldId id="288" r:id="rId35"/>
    <p:sldId id="287" r:id="rId36"/>
    <p:sldId id="290" r:id="rId37"/>
    <p:sldId id="291" r:id="rId38"/>
    <p:sldId id="292" r:id="rId39"/>
    <p:sldId id="303" r:id="rId40"/>
    <p:sldId id="301" r:id="rId41"/>
    <p:sldId id="29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1850"/>
    <a:srgbClr val="0A0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58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5DB9A-4F0D-4CCA-824E-406D02519CB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9408E-0CB5-4E7E-A96B-F8C22FF17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2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8214-CB25-46C5-AEFC-AF4F5840FF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02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74D2-3E0C-9B9C-8A0B-604F4511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81019-D717-58D9-CCE0-A3E3F115E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7E656-A634-ED18-FF3B-7258901AC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2CD06-21F8-7AB0-795C-B074A9D5B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70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5BF4-B556-FEEB-804D-583A2E13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9C874-08A5-A419-63A0-316FF8581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4D569-9E2C-EC72-E94A-8C7D2B814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F2910-6A16-A9B9-4F9A-B39CF5C83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67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6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46B6-8AE4-3306-2E3B-E6E787A4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AEA98-FEFA-C638-E58E-362467D6B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EE0DF-C5AE-EA5B-AC40-D8C097999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4D357-8D00-4086-A584-CC59794C9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28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1C9D-58CF-C8BC-FAFB-C1D7BA03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E941E-91BF-C723-55B9-EE539E8B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D3C5A-1592-D8DD-8202-CC8D29AD8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DE6CA-BE2A-F82E-CE07-BAE3A84E9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57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589C-BB68-6CE9-AF97-A2FE60324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85093-6E28-CA67-4D13-1339D2463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C512-310E-C836-8C97-1036C382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4EE7-6169-E073-7286-DC7696BA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B0B79-D40B-E15C-26E3-5BB0C614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021-8CBC-9EA9-2702-5AF71BAD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3888-4F97-452A-C792-746590B9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233B-697C-5E1C-DC96-8BE7BF42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B716-BAF7-6C11-17D6-E6DCFD98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080D0-D680-3423-FC31-327CD3B1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B0F1-292F-45A9-25B0-7FA8B77D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10804-C784-2348-F179-3D84B4AE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6A8A0-8B23-AFC1-70ED-391AB1F4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467D-B8F7-1C4C-21F3-D1ECCA83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E9B2-9477-5994-A26F-A12D6E99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06F0-8EA8-8762-343C-614E7DF0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BBBF7-D9FA-84C1-FFDF-B320087FD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9032B-7FC4-E7CD-E436-B4ABA1A7D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CC65E-C200-BC73-3FA5-CB47B89B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B3E24-7739-E844-7FA8-C4722B90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032A0-777B-4A03-3258-19F38224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C536-7E72-6092-3A83-35512E6B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C9F2A-404F-D46A-E6AA-054B0AAF9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1FCFD-E46B-3BEB-5892-A1CE61A28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82F4B-A1D7-5640-64AB-075E3379F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25AAA-A071-4915-5C6C-6B86C11E4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BC78C-3C42-7B28-4C0F-160B9B27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182B7-A0A2-BA90-E51D-5129D9B8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0B682-F489-A3C5-12DB-6EA86D84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80E4-5A92-6D8E-59B3-90D0DA9F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8C87DE-1DF4-CD17-8F9F-8A4F383D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0F65E-C3CB-7F81-C356-E060C602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BD8A2-72BE-E93E-CED2-07EA3FF5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6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32B0C-E823-F72C-C822-40B173E6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764A8-D193-F52D-EFD1-42263CB5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D835F-1293-3965-4049-C7590E52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63D3-AAEF-10A3-44E9-A47B507D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15FA-B35D-15FD-52F4-86150A828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E501A-5C21-AC28-0EA0-1EA85B3C7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30740-67C1-12FB-0938-34D1CBF6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030CC-31AA-30A5-BAC3-826B555B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6A848-B8B2-1D62-178B-7705F64F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1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8790-E4B6-5315-FF48-A7E00771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F8857-581B-7A33-91DD-D8D2EAD92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86394-48C0-DDA0-DFFD-1FF63323F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217F5-3AC8-BC69-66E5-EDCDE956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92BE4-7A46-8AC3-A0E7-137DD63F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26358-25D9-67B0-C76D-1DFD5A8F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8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3377-A804-0AFF-D45C-BA28268E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95E1F-A11B-10F9-645F-CFC05976B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A8BAB-3C4D-8D12-A52E-2C47C1C5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CB90C-D515-BD7E-4DE2-9AEDE5B6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8BDE6-9AAF-48E0-243C-72EEC3C7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8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27ABB-9CF0-F7F8-2919-51DAC2663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94E05-356A-E66E-8594-A0CEE7632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7BF5-A17B-AEA3-A09C-C4F80FBF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71F75-1AE5-D48F-0F63-F73436AA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B9C0-81E5-5E0F-1165-972AC25A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66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906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1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73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618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5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1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47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947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140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2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8CE69-4962-0777-4310-85BD2A87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D177E-DFFA-1DB8-44A5-D6B26E65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78140-E462-152C-61EC-F0F94283C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1051-6548-6DFE-0706-597AE07E4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011C-C3C4-EB56-EB66-C42A0C3A5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5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D3787B8-5282-499D-A07C-92940A76DEA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5259037-1B2C-430B-89CE-672D43FD1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648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048000"/>
            <a:ext cx="6096000" cy="609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8000" y="609600"/>
            <a:ext cx="6096000" cy="4876800"/>
          </a:xfrm>
          <a:prstGeom prst="ellipse">
            <a:avLst/>
          </a:prstGeom>
          <a:solidFill>
            <a:srgbClr val="A855F7">
              <a:alpha val="6000"/>
            </a:srgbClr>
          </a:solidFill>
          <a:ln w="12700">
            <a:solidFill>
              <a:srgbClr val="A855F7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70560" y="273449"/>
            <a:ext cx="1310640" cy="1238359"/>
          </a:xfrm>
          <a:prstGeom prst="roundRect">
            <a:avLst>
              <a:gd name="adj" fmla="val 1944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0655" y="46678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17272" y="737616"/>
            <a:ext cx="5360561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Find</a:t>
            </a: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560" y="1889760"/>
            <a:ext cx="7924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Your Photos.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6408" y="2650889"/>
            <a:ext cx="792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Instantly.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0560" y="4413504"/>
            <a:ext cx="7559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face recognition for event photography.</a:t>
            </a:r>
            <a:endParaRPr lang="en-US" sz="17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7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Guests scan a QR code, take a selfie — and find every photo of themselves in seconds.</a:t>
            </a:r>
            <a:endParaRPr lang="en-US" sz="17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0560" y="5705856"/>
            <a:ext cx="2316480" cy="414528"/>
          </a:xfrm>
          <a:prstGeom prst="rect">
            <a:avLst/>
          </a:prstGeom>
          <a:solidFill>
            <a:srgbClr val="3B1F6B">
              <a:alpha val="7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" y="573024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67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 Team - 7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90560" y="609600"/>
            <a:ext cx="3657600" cy="3657600"/>
          </a:xfrm>
          <a:prstGeom prst="ellipse">
            <a:avLst/>
          </a:prstGeom>
          <a:solidFill>
            <a:srgbClr val="0A0812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17280" y="1036320"/>
            <a:ext cx="2804160" cy="2804160"/>
          </a:xfrm>
          <a:prstGeom prst="ellipse">
            <a:avLst/>
          </a:prstGeom>
          <a:solidFill>
            <a:srgbClr val="0A0812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04960" y="1524000"/>
            <a:ext cx="1828800" cy="1828800"/>
          </a:xfrm>
          <a:prstGeom prst="ellipse">
            <a:avLst/>
          </a:prstGeom>
          <a:solidFill>
            <a:srgbClr val="3B1F6B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31680" y="195072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🤳</a:t>
            </a:r>
            <a:endParaRPr lang="en-US" sz="37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 /  9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7680" y="64617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4925F6E-4220-B72C-8120-9A85FF937C6C}"/>
              </a:ext>
            </a:extLst>
          </p:cNvPr>
          <p:cNvSpPr/>
          <p:nvPr/>
        </p:nvSpPr>
        <p:spPr>
          <a:xfrm>
            <a:off x="3276600" y="5649903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194560" y="268224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414528"/>
            <a:ext cx="2316480" cy="365760"/>
          </a:xfrm>
          <a:prstGeom prst="rect">
            <a:avLst/>
          </a:prstGeom>
          <a:solidFill>
            <a:srgbClr val="3B1F6B">
              <a:alpha val="80000"/>
            </a:srgbClr>
          </a:solidFill>
          <a:ln w="762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26720"/>
            <a:ext cx="2316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kern="0" spc="333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92659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 Roles &amp; Responsibilities.</a:t>
            </a:r>
            <a:endParaRPr lang="en-US" sz="4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6448" y="1926336"/>
            <a:ext cx="5547360" cy="219456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6448" y="1926336"/>
            <a:ext cx="5547360" cy="67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0288" y="20726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Jash Berawala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0288" y="2462784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Stack Lead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0288" y="2901696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99744" y="2852928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API (Node.js/Express)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0288" y="3194304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9744" y="31455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Management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0288" y="3486912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9744" y="3438144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Integration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0288" y="3779520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744" y="373075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Development &amp; Testing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2992" y="1926336"/>
            <a:ext cx="5547360" cy="219456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12992" y="1926336"/>
            <a:ext cx="5547360" cy="670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56832" y="20726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Jay Shah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56832" y="2462784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Developer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56832" y="2901696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76288" y="2852928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 Application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56832" y="3194304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76288" y="31455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 Interface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56832" y="3486912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76288" y="3438144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Photo Gallery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56832" y="3779520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76288" y="373075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Responsive Design &amp; State Mgmt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36448" y="4364736"/>
            <a:ext cx="5547360" cy="219456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6448" y="4364736"/>
            <a:ext cx="5547360" cy="67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0288" y="45110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Niraj Patil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0288" y="4901184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Engineer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80288" y="5340096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9744" y="5291328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Detection &amp; Recognition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80288" y="5632704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99744" y="55839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Microservice (FastAPI)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80288" y="5925312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99744" y="5876544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 Clustering (DBSCAN)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0288" y="6217920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9744" y="616915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 Optimization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12992" y="4364736"/>
            <a:ext cx="5547360" cy="219456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12992" y="4364736"/>
            <a:ext cx="5547360" cy="670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656832" y="4511040"/>
            <a:ext cx="4998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Chetan Patel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56832" y="4901184"/>
            <a:ext cx="499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Administrator/</a:t>
            </a:r>
            <a:r>
              <a:rPr lang="en-US" sz="1267" dirty="0" err="1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656832" y="5340096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76288" y="5291328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S3 Integration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56832" y="5632704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76288" y="55839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Architecture (MongoDB)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656832" y="5925312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76288" y="5876544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Containerization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56832" y="6217920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876288" y="6169152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&amp; QR Code System</a:t>
            </a:r>
            <a:endParaRPr lang="en-US" sz="1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87680" y="64983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CS 691  ·  Team 7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728960" y="6498336"/>
            <a:ext cx="975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/ 17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BE8C-193E-0709-B421-B6C33A414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436"/>
            <a:ext cx="10668000" cy="1655763"/>
          </a:xfrm>
        </p:spPr>
        <p:txBody>
          <a:bodyPr>
            <a:normAutofit/>
          </a:bodyPr>
          <a:lstStyle/>
          <a:p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4A829-60D7-7AB2-7E8B-DB96F7116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29" y="2242457"/>
            <a:ext cx="10504714" cy="3820886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diagram of a book and arrow&#10;&#10;AI-generated content may be incorrect.">
            <a:extLst>
              <a:ext uri="{FF2B5EF4-FFF2-40B4-BE49-F238E27FC236}">
                <a16:creationId xmlns:a16="http://schemas.microsoft.com/office/drawing/2014/main" id="{7E13D254-1E18-EDE0-79D3-CB04FA76F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5" y="1"/>
            <a:ext cx="12239625" cy="6831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445810-D97F-AE14-190B-D562ACB7E8E6}"/>
              </a:ext>
            </a:extLst>
          </p:cNvPr>
          <p:cNvSpPr txBox="1"/>
          <p:nvPr/>
        </p:nvSpPr>
        <p:spPr>
          <a:xfrm>
            <a:off x="435429" y="4778779"/>
            <a:ext cx="100235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Description made more Simple.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made in Personas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correction in Technologies(described)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72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048000"/>
            <a:ext cx="6096000" cy="609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 /  9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64617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CS 691  ·  Team 7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463296"/>
            <a:ext cx="2194560" cy="414528"/>
          </a:xfrm>
          <a:prstGeom prst="rect">
            <a:avLst/>
          </a:prstGeom>
          <a:solidFill>
            <a:srgbClr val="3B1F6B">
              <a:alpha val="7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48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67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036320"/>
            <a:ext cx="670560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2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photos are</a:t>
            </a:r>
            <a:endParaRPr lang="en-US" sz="4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2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impossible to find.</a:t>
            </a:r>
            <a:endParaRPr lang="en-US" sz="4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706624"/>
            <a:ext cx="7071360" cy="950976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706624"/>
            <a:ext cx="73152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2901696"/>
            <a:ext cx="67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😩</a:t>
            </a:r>
            <a:endParaRPr lang="en-US" sz="2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2804160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Thousands of photos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45920" y="3169920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Photographers upload 1,000–5,000+ images per event.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840480"/>
            <a:ext cx="7071360" cy="950976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840480"/>
            <a:ext cx="73152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3440" y="4035552"/>
            <a:ext cx="67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🔍</a:t>
            </a:r>
            <a:endParaRPr lang="en-US" sz="2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45920" y="3938016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way to search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5920" y="4303776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Guests have no tool to find photos of themselves.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974336"/>
            <a:ext cx="7071360" cy="950976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974336"/>
            <a:ext cx="73152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440" y="5169408"/>
            <a:ext cx="67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⏳</a:t>
            </a:r>
            <a:endParaRPr lang="en-US" sz="2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45920" y="5071872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Hours wasted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5920" y="5437632"/>
            <a:ext cx="5730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searching kills the joy of the moment.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46720" y="1219200"/>
            <a:ext cx="3657600" cy="487680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68640" y="1280160"/>
            <a:ext cx="341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endParaRPr lang="en-US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0" y="1889760"/>
            <a:ext cx="329184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33" i="1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spent 2 hours scrolling through 3,000 wedding photos just to find 12 pictures of myself.</a:t>
            </a:r>
            <a:endParaRPr lang="en-US" sz="17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9600" y="3962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Event Attendee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0" y="4511040"/>
            <a:ext cx="32918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00" b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94%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5340096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guests never find all their photos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048000"/>
            <a:ext cx="6096000" cy="609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 /  9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64617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MVP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463296"/>
            <a:ext cx="2194560" cy="414528"/>
          </a:xfrm>
          <a:prstGeom prst="rect">
            <a:avLst/>
          </a:prstGeom>
          <a:solidFill>
            <a:srgbClr val="3B1F6B">
              <a:alpha val="7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48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67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036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FaceFind.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0482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Scan. Snap. See yourself.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2950464"/>
            <a:ext cx="2657856" cy="347472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2950464"/>
            <a:ext cx="265785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2950464"/>
            <a:ext cx="265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02080" y="360883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📸</a:t>
            </a:r>
            <a:endParaRPr lang="en-US" sz="3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3984" y="45110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Photographer Uploads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984" y="5120640"/>
            <a:ext cx="2365248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an event, uploads all photos. AI processes and indexes every face automatically.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89376" y="2950464"/>
            <a:ext cx="2657856" cy="347472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89376" y="2950464"/>
            <a:ext cx="265785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9376" y="2950464"/>
            <a:ext cx="265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03776" y="360883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</a:t>
            </a:r>
            <a:endParaRPr lang="en-US" sz="3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35680" y="45110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Scans QR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35680" y="5120640"/>
            <a:ext cx="2365248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Attendees scan the unique QR code at the venue to access the guest portal instantly.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91072" y="2950464"/>
            <a:ext cx="2657856" cy="347472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91072" y="2950464"/>
            <a:ext cx="265785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91072" y="2950464"/>
            <a:ext cx="265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05472" y="360883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🤳</a:t>
            </a:r>
            <a:endParaRPr lang="en-US" sz="3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37376" y="45110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 a Selfie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7376" y="5120640"/>
            <a:ext cx="2365248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or take a selfie directly in the browser — no app download required.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92768" y="2950464"/>
            <a:ext cx="2657856" cy="347472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92768" y="2950464"/>
            <a:ext cx="2657856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92768" y="2950464"/>
            <a:ext cx="265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07168" y="360883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✨</a:t>
            </a:r>
            <a:endParaRPr lang="en-US" sz="3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339072" y="45110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Match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39072" y="5120640"/>
            <a:ext cx="2365248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matches your face against all event photos and returns your results in under 5 seconds.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048000"/>
            <a:ext cx="6096000" cy="609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 /  9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64617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MVP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463296"/>
            <a:ext cx="1706880" cy="414528"/>
          </a:xfrm>
          <a:prstGeom prst="rect">
            <a:avLst/>
          </a:prstGeom>
          <a:solidFill>
            <a:srgbClr val="3B1F6B">
              <a:alpha val="7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48768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67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999744"/>
            <a:ext cx="609600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2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for Photographers,</a:t>
            </a:r>
            <a:endParaRPr lang="en-US" sz="4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2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Loved by Guests.</a:t>
            </a:r>
            <a:endParaRPr lang="en-US" sz="42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804160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804160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3023616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60576" y="292608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Face Indexing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60576" y="33162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uploaded photo is automatically processed and indexed by face embedding.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804160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2804160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0" y="3023616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⚡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68896" y="292608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5 Second Match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8896" y="33162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Guests receive matched results in under 5 seconds using vector similarity search.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047744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047744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440" y="4267200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60576" y="416966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App Required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60576" y="4559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browser-based. Guests just scan a QR code — nothing to install.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4047744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4047744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267200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🔐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68896" y="416966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Photographer Auth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68896" y="4559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JWT-based login. Each photographer sees only their own events.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5291328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600" y="5291328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3440" y="5510784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60576" y="5413248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Dashboard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560576" y="5803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processing updates via WebSockets. See photos processed as they upload.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17920" y="5291328"/>
            <a:ext cx="5242560" cy="1048512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5291328"/>
            <a:ext cx="73152" cy="1048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61760" y="5510784"/>
            <a:ext cx="548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🔗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168896" y="5413248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 Code Sharing</a:t>
            </a:r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68896" y="5803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Auto-generated QR codes per event. Share with guests in seconds.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071360" y="1072896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71360" y="1487424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71360" y="182880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71360" y="2170176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68224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414528"/>
            <a:ext cx="3169920" cy="365760"/>
          </a:xfrm>
          <a:prstGeom prst="rect">
            <a:avLst/>
          </a:prstGeom>
          <a:solidFill>
            <a:srgbClr val="3B1F6B">
              <a:alpha val="80000"/>
            </a:srgbClr>
          </a:solidFill>
          <a:ln w="762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426720"/>
            <a:ext cx="3169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kern="0" spc="333" dirty="0">
                <a:solidFill>
                  <a:srgbClr val="A855F7"/>
                </a:solidFill>
              </a:rPr>
              <a:t>TEAM WORKING AGREEMENT</a:t>
            </a:r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609600" y="926592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FFFFFF"/>
                </a:solidFill>
              </a:rPr>
              <a:t>Our Commitment to Each Other.</a:t>
            </a:r>
            <a:endParaRPr lang="en-US" sz="4533" dirty="0"/>
          </a:p>
        </p:txBody>
      </p:sp>
      <p:sp>
        <p:nvSpPr>
          <p:cNvPr id="8" name="Shape 6"/>
          <p:cNvSpPr/>
          <p:nvPr/>
        </p:nvSpPr>
        <p:spPr>
          <a:xfrm>
            <a:off x="536448" y="1926336"/>
            <a:ext cx="11119104" cy="1414272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36448" y="1926336"/>
            <a:ext cx="67056" cy="14142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04672" y="204825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7C3AED"/>
                </a:solidFill>
              </a:rPr>
              <a:t>1.  Communication</a:t>
            </a:r>
            <a:endParaRPr lang="en-US" sz="1667" dirty="0"/>
          </a:p>
        </p:txBody>
      </p:sp>
      <p:sp>
        <p:nvSpPr>
          <p:cNvPr id="11" name="Shape 9"/>
          <p:cNvSpPr/>
          <p:nvPr/>
        </p:nvSpPr>
        <p:spPr>
          <a:xfrm>
            <a:off x="829056" y="2535936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1072896" y="247497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Primary platform: Microsoft Teams / Google Meet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829056" y="2779776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72896" y="271881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Respond to messages within 12 hours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829056" y="3023616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1072896" y="296265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Blockers &amp; delays communicated promptly and transparently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536448" y="3511296"/>
            <a:ext cx="11119104" cy="1414272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536448" y="3511296"/>
            <a:ext cx="67056" cy="14142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04672" y="363321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4F46E5"/>
                </a:solidFill>
              </a:rPr>
              <a:t>2.  Meetings</a:t>
            </a:r>
            <a:endParaRPr lang="en-US" sz="1667" dirty="0"/>
          </a:p>
        </p:txBody>
      </p:sp>
      <p:sp>
        <p:nvSpPr>
          <p:cNvPr id="20" name="Shape 18"/>
          <p:cNvSpPr/>
          <p:nvPr/>
        </p:nvSpPr>
        <p:spPr>
          <a:xfrm>
            <a:off x="829056" y="4120896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72896" y="405993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Attend all sprint ceremonies: Planning, Backlog Grooming ,Reviews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829056" y="4364736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072896" y="430377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Arrive prepared with updates and blockers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829056" y="4608576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072896" y="454761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Retrospectives conducted with candor and respect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536448" y="5096256"/>
            <a:ext cx="11119104" cy="1414272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7" name="Shape 25"/>
          <p:cNvSpPr/>
          <p:nvPr/>
        </p:nvSpPr>
        <p:spPr>
          <a:xfrm>
            <a:off x="536448" y="5096256"/>
            <a:ext cx="67056" cy="14142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04672" y="521817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3B82F6"/>
                </a:solidFill>
              </a:rPr>
              <a:t>3.  Work Expectations</a:t>
            </a:r>
            <a:endParaRPr lang="en-US" sz="1667" dirty="0"/>
          </a:p>
        </p:txBody>
      </p:sp>
      <p:sp>
        <p:nvSpPr>
          <p:cNvPr id="29" name="Shape 27"/>
          <p:cNvSpPr/>
          <p:nvPr/>
        </p:nvSpPr>
        <p:spPr>
          <a:xfrm>
            <a:off x="829056" y="5705856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1072896" y="564489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Complete assigned tasks before the deadline</a:t>
            </a:r>
            <a:endParaRPr lang="en-US" sz="1267" dirty="0"/>
          </a:p>
        </p:txBody>
      </p:sp>
      <p:sp>
        <p:nvSpPr>
          <p:cNvPr id="31" name="Shape 29"/>
          <p:cNvSpPr/>
          <p:nvPr/>
        </p:nvSpPr>
        <p:spPr>
          <a:xfrm>
            <a:off x="829056" y="5949696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1072896" y="588873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Avoid last-minute submissions</a:t>
            </a:r>
            <a:endParaRPr lang="en-US" sz="1267" dirty="0"/>
          </a:p>
        </p:txBody>
      </p:sp>
      <p:sp>
        <p:nvSpPr>
          <p:cNvPr id="33" name="Shape 31"/>
          <p:cNvSpPr/>
          <p:nvPr/>
        </p:nvSpPr>
        <p:spPr>
          <a:xfrm>
            <a:off x="829056" y="6193536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1072896" y="613257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Submit work for peer review before merging to main</a:t>
            </a:r>
            <a:endParaRPr lang="en-US" sz="1267" dirty="0"/>
          </a:p>
        </p:txBody>
      </p:sp>
      <p:sp>
        <p:nvSpPr>
          <p:cNvPr id="35" name="Shape 33"/>
          <p:cNvSpPr/>
          <p:nvPr/>
        </p:nvSpPr>
        <p:spPr>
          <a:xfrm>
            <a:off x="829056" y="6437376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1072896" y="6376416"/>
            <a:ext cx="1030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2D9FF"/>
                </a:solidFill>
              </a:rPr>
              <a:t>Communicate blockers early so the team can adjust</a:t>
            </a:r>
            <a:endParaRPr lang="en-US" sz="1267" dirty="0"/>
          </a:p>
        </p:txBody>
      </p:sp>
      <p:sp>
        <p:nvSpPr>
          <p:cNvPr id="37" name="Text 35"/>
          <p:cNvSpPr/>
          <p:nvPr/>
        </p:nvSpPr>
        <p:spPr>
          <a:xfrm>
            <a:off x="487680" y="6601968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B4369"/>
                </a:solidFill>
              </a:rPr>
              <a:t>FaceFind  ·  CS 691  ·  Team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people and a network&#10;&#10;AI-generated content may be incorrect.">
            <a:extLst>
              <a:ext uri="{FF2B5EF4-FFF2-40B4-BE49-F238E27FC236}">
                <a16:creationId xmlns:a16="http://schemas.microsoft.com/office/drawing/2014/main" id="{9B3FACE8-9E7D-B119-5275-27532839A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25" b="5233"/>
          <a:stretch>
            <a:fillRect/>
          </a:stretch>
        </p:blipFill>
        <p:spPr>
          <a:xfrm>
            <a:off x="0" y="26579"/>
            <a:ext cx="13000664" cy="690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10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low_3B82F6"/>
          <p:cNvSpPr>
            <a:spLocks noGrp="1"/>
          </p:cNvSpPr>
          <p:nvPr/>
        </p:nvSpPr>
        <p:spPr>
          <a:xfrm>
            <a:off x="7200000" y="-500000"/>
            <a:ext cx="3000000" cy="3000000"/>
          </a:xfrm>
          <a:prstGeom prst="ellipse">
            <a:avLst/>
          </a:prstGeom>
          <a:gradFill>
            <a:gsLst>
              <a:gs pos="0">
                <a:srgbClr val="3B82F6">
                  <a:alpha val="14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Glow_7C3AED"/>
          <p:cNvSpPr>
            <a:spLocks noGrp="1"/>
          </p:cNvSpPr>
          <p:nvPr/>
        </p:nvSpPr>
        <p:spPr>
          <a:xfrm>
            <a:off x="-1200000" y="800000"/>
            <a:ext cx="3800000" cy="3800000"/>
          </a:xfrm>
          <a:prstGeom prst="ellipse">
            <a:avLst/>
          </a:pr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1D748-D4EE-1D26-0143-758706C42F0A}"/>
              </a:ext>
            </a:extLst>
          </p:cNvPr>
          <p:cNvSpPr txBox="1"/>
          <p:nvPr/>
        </p:nvSpPr>
        <p:spPr>
          <a:xfrm>
            <a:off x="134472" y="4667768"/>
            <a:ext cx="3536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A855F7"/>
                </a:solidFill>
              </a:rPr>
              <a:t>Demographics</a:t>
            </a:r>
          </a:p>
          <a:p>
            <a:r>
              <a:rPr lang="en-US" dirty="0">
                <a:solidFill>
                  <a:srgbClr val="FFFFFF"/>
                </a:solidFill>
              </a:rPr>
              <a:t>Name : Alex Reynolds</a:t>
            </a:r>
          </a:p>
          <a:p>
            <a:r>
              <a:rPr lang="en-US" dirty="0">
                <a:solidFill>
                  <a:srgbClr val="FFFFFF"/>
                </a:solidFill>
              </a:rPr>
              <a:t>Age: 31</a:t>
            </a:r>
          </a:p>
          <a:p>
            <a:r>
              <a:rPr lang="en-US" dirty="0">
                <a:solidFill>
                  <a:srgbClr val="FFFFFF"/>
                </a:solidFill>
              </a:rPr>
              <a:t>Location: Denver, CO</a:t>
            </a:r>
          </a:p>
          <a:p>
            <a:r>
              <a:rPr lang="en-US" dirty="0">
                <a:solidFill>
                  <a:srgbClr val="FFFFFF"/>
                </a:solidFill>
              </a:rPr>
              <a:t>Business: Moments by Alex Photo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0F54F-3CED-F26B-02E2-CFCF27D4920D}"/>
              </a:ext>
            </a:extLst>
          </p:cNvPr>
          <p:cNvSpPr txBox="1"/>
          <p:nvPr/>
        </p:nvSpPr>
        <p:spPr>
          <a:xfrm>
            <a:off x="3960159" y="234810"/>
            <a:ext cx="31600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Profile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Full-time Event Photographer</a:t>
            </a:r>
          </a:p>
          <a:p>
            <a:r>
              <a:rPr lang="en-US" dirty="0">
                <a:solidFill>
                  <a:srgbClr val="FFFFFF"/>
                </a:solidFill>
              </a:rPr>
              <a:t>8 years experience</a:t>
            </a:r>
          </a:p>
          <a:p>
            <a:r>
              <a:rPr lang="en-US" dirty="0">
                <a:solidFill>
                  <a:srgbClr val="FFFFFF"/>
                </a:solidFill>
              </a:rPr>
              <a:t>Shoots 3-4 events/week</a:t>
            </a:r>
          </a:p>
          <a:p>
            <a:r>
              <a:rPr lang="en-US" dirty="0">
                <a:solidFill>
                  <a:srgbClr val="FFFFFF"/>
                </a:solidFill>
              </a:rPr>
              <a:t>800-1200 photos per event </a:t>
            </a:r>
          </a:p>
          <a:p>
            <a:r>
              <a:rPr lang="en-US" dirty="0">
                <a:solidFill>
                  <a:srgbClr val="FFFFFF"/>
                </a:solidFill>
              </a:rPr>
              <a:t> Specializes in weddings &amp;</a:t>
            </a:r>
          </a:p>
          <a:p>
            <a:r>
              <a:rPr lang="en-US" dirty="0">
                <a:solidFill>
                  <a:srgbClr val="FFFFFF"/>
                </a:solidFill>
              </a:rPr>
              <a:t>corporate events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5CBB7-9C72-8FC6-5293-916C11EF4A7D}"/>
              </a:ext>
            </a:extLst>
          </p:cNvPr>
          <p:cNvSpPr txBox="1"/>
          <p:nvPr/>
        </p:nvSpPr>
        <p:spPr>
          <a:xfrm>
            <a:off x="3960159" y="2570028"/>
            <a:ext cx="38458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Goals</a:t>
            </a:r>
          </a:p>
          <a:p>
            <a:r>
              <a:rPr lang="en-US" dirty="0">
                <a:solidFill>
                  <a:srgbClr val="FFFFFF"/>
                </a:solidFill>
              </a:rPr>
              <a:t>Reduce photo delivery time from hours to minutes</a:t>
            </a:r>
          </a:p>
          <a:p>
            <a:r>
              <a:rPr lang="en-US" dirty="0">
                <a:solidFill>
                  <a:srgbClr val="FFFFFF"/>
                </a:solidFill>
              </a:rPr>
              <a:t>Improve client satisfaction with faster turnaround</a:t>
            </a:r>
          </a:p>
          <a:p>
            <a:r>
              <a:rPr lang="en-US" dirty="0">
                <a:solidFill>
                  <a:srgbClr val="FFFFFF"/>
                </a:solidFill>
              </a:rPr>
              <a:t>Focus more on photography and client acquisition</a:t>
            </a:r>
          </a:p>
          <a:p>
            <a:r>
              <a:rPr lang="en-US" dirty="0">
                <a:solidFill>
                  <a:srgbClr val="FFFFFF"/>
                </a:solidFill>
              </a:rPr>
              <a:t>Increase bookings through referrals</a:t>
            </a:r>
          </a:p>
          <a:p>
            <a:r>
              <a:rPr lang="en-US" dirty="0">
                <a:solidFill>
                  <a:srgbClr val="FFFFFF"/>
                </a:solidFill>
              </a:rPr>
              <a:t>Build brand via photo tags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B2A42-C19B-2831-50F8-4CBE6EE27258}"/>
              </a:ext>
            </a:extLst>
          </p:cNvPr>
          <p:cNvSpPr txBox="1"/>
          <p:nvPr/>
        </p:nvSpPr>
        <p:spPr>
          <a:xfrm>
            <a:off x="7577417" y="82479"/>
            <a:ext cx="47400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Frustration</a:t>
            </a:r>
          </a:p>
          <a:p>
            <a:r>
              <a:rPr lang="en-US" dirty="0">
                <a:solidFill>
                  <a:srgbClr val="FFFFFF"/>
                </a:solidFill>
              </a:rPr>
              <a:t>Manual folder creation and link sharing takes 5-6 hours per event</a:t>
            </a:r>
          </a:p>
          <a:p>
            <a:r>
              <a:rPr lang="en-US" dirty="0">
                <a:solidFill>
                  <a:srgbClr val="FFFFFF"/>
                </a:solidFill>
              </a:rPr>
              <a:t>Constant client requests: "When will photos be ready?"</a:t>
            </a:r>
          </a:p>
          <a:p>
            <a:r>
              <a:rPr lang="en-US" dirty="0">
                <a:solidFill>
                  <a:srgbClr val="FFFFFF"/>
                </a:solidFill>
              </a:rPr>
              <a:t>No easy way to provide partial access during events</a:t>
            </a:r>
          </a:p>
          <a:p>
            <a:r>
              <a:rPr lang="en-US" dirty="0">
                <a:solidFill>
                  <a:srgbClr val="FFFFFF"/>
                </a:solidFill>
              </a:rPr>
              <a:t>Link sharing management is cumbersome</a:t>
            </a:r>
          </a:p>
          <a:p>
            <a:r>
              <a:rPr lang="en-US" dirty="0">
                <a:solidFill>
                  <a:srgbClr val="FFFFFF"/>
                </a:solidFill>
              </a:rPr>
              <a:t>Lost referral opportunities from untagged photos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B6738-A087-C231-3B08-5DB3D5EAC3EF}"/>
              </a:ext>
            </a:extLst>
          </p:cNvPr>
          <p:cNvSpPr txBox="1"/>
          <p:nvPr/>
        </p:nvSpPr>
        <p:spPr>
          <a:xfrm>
            <a:off x="7577417" y="3124026"/>
            <a:ext cx="4083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How </a:t>
            </a:r>
            <a:r>
              <a:rPr lang="en-US" b="1" dirty="0" err="1">
                <a:solidFill>
                  <a:srgbClr val="FFFFFF"/>
                </a:solidFill>
              </a:rPr>
              <a:t>FaceFind</a:t>
            </a:r>
            <a:r>
              <a:rPr lang="en-US" b="1" dirty="0">
                <a:solidFill>
                  <a:srgbClr val="A855F7"/>
                </a:solidFill>
              </a:rPr>
              <a:t> Helps</a:t>
            </a:r>
          </a:p>
          <a:p>
            <a:r>
              <a:rPr lang="en-US" dirty="0">
                <a:solidFill>
                  <a:srgbClr val="FFFFFF"/>
                </a:solidFill>
              </a:rPr>
              <a:t>Creates event in 30 seconds</a:t>
            </a:r>
          </a:p>
          <a:p>
            <a:r>
              <a:rPr lang="en-US" dirty="0">
                <a:solidFill>
                  <a:srgbClr val="FFFFFF"/>
                </a:solidFill>
              </a:rPr>
              <a:t>AI handles photo distribution</a:t>
            </a:r>
          </a:p>
          <a:p>
            <a:r>
              <a:rPr lang="en-US" dirty="0">
                <a:solidFill>
                  <a:srgbClr val="FFFFFF"/>
                </a:solidFill>
              </a:rPr>
              <a:t>Guests self-serve via QR code</a:t>
            </a:r>
          </a:p>
          <a:p>
            <a:r>
              <a:rPr lang="en-US" dirty="0">
                <a:solidFill>
                  <a:srgbClr val="FFFFFF"/>
                </a:solidFill>
              </a:rPr>
              <a:t>Real-time processing during breaks</a:t>
            </a:r>
          </a:p>
          <a:p>
            <a:r>
              <a:rPr lang="en-US" dirty="0">
                <a:solidFill>
                  <a:srgbClr val="FFFFFF"/>
                </a:solidFill>
              </a:rPr>
              <a:t>Automatic tagging for referrals</a:t>
            </a:r>
          </a:p>
          <a:p>
            <a:r>
              <a:rPr lang="en-US" dirty="0">
                <a:solidFill>
                  <a:srgbClr val="FFFFFF"/>
                </a:solidFill>
              </a:rPr>
              <a:t>Frees 5+ hours per event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3BDD10-2296-9942-B0EF-CB090DBCED40}"/>
              </a:ext>
            </a:extLst>
          </p:cNvPr>
          <p:cNvSpPr txBox="1"/>
          <p:nvPr/>
        </p:nvSpPr>
        <p:spPr>
          <a:xfrm>
            <a:off x="3960159" y="5247684"/>
            <a:ext cx="83775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Quote</a:t>
            </a:r>
          </a:p>
          <a:p>
            <a:r>
              <a:rPr lang="en-US" dirty="0">
                <a:solidFill>
                  <a:srgbClr val="FFFFFF"/>
                </a:solidFill>
              </a:rPr>
              <a:t>"I spent 6 hours last night just organizing and sending photos from Saturday's wedding. That's time I could have been shooting, marketing, or actually living my life. If guests could just scan a QR code and instantly get their photos, I'd be a hero."</a:t>
            </a:r>
          </a:p>
          <a:p>
            <a:r>
              <a:rPr lang="en-US" dirty="0">
                <a:solidFill>
                  <a:srgbClr val="FFFFFF"/>
                </a:solidFill>
              </a:rPr>
              <a:t>— Alex Reynolds, Professional Photographer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278319-2B79-9767-9736-E5726F364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478"/>
            <a:ext cx="3845859" cy="378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91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low_3B82F6"/>
          <p:cNvSpPr>
            <a:spLocks noGrp="1"/>
          </p:cNvSpPr>
          <p:nvPr/>
        </p:nvSpPr>
        <p:spPr>
          <a:xfrm>
            <a:off x="7200000" y="-500000"/>
            <a:ext cx="3000000" cy="3000000"/>
          </a:xfrm>
          <a:prstGeom prst="ellipse">
            <a:avLst/>
          </a:prstGeom>
          <a:gradFill>
            <a:gsLst>
              <a:gs pos="0">
                <a:srgbClr val="3B82F6">
                  <a:alpha val="14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Glow_7C3AED"/>
          <p:cNvSpPr>
            <a:spLocks noGrp="1"/>
          </p:cNvSpPr>
          <p:nvPr/>
        </p:nvSpPr>
        <p:spPr>
          <a:xfrm>
            <a:off x="-1200000" y="800000"/>
            <a:ext cx="3800000" cy="3800000"/>
          </a:xfrm>
          <a:prstGeom prst="ellipse">
            <a:avLst/>
          </a:pr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2A061-D7EE-C020-3B5A-DD0714CC2794}"/>
              </a:ext>
            </a:extLst>
          </p:cNvPr>
          <p:cNvSpPr txBox="1"/>
          <p:nvPr/>
        </p:nvSpPr>
        <p:spPr>
          <a:xfrm>
            <a:off x="3924300" y="0"/>
            <a:ext cx="4343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Profile</a:t>
            </a:r>
          </a:p>
          <a:p>
            <a:r>
              <a:rPr lang="en-US" dirty="0">
                <a:solidFill>
                  <a:srgbClr val="FFFFFF"/>
                </a:solidFill>
              </a:rPr>
              <a:t>Marketing Manager with 5+ years experience</a:t>
            </a:r>
          </a:p>
          <a:p>
            <a:r>
              <a:rPr lang="en-US" dirty="0">
                <a:solidFill>
                  <a:srgbClr val="FFFFFF"/>
                </a:solidFill>
              </a:rPr>
              <a:t>Attends 8-10 weddings annually</a:t>
            </a:r>
          </a:p>
          <a:p>
            <a:r>
              <a:rPr lang="en-US" dirty="0">
                <a:solidFill>
                  <a:srgbClr val="FFFFFF"/>
                </a:solidFill>
              </a:rPr>
              <a:t>Active on Instagram &amp; LinkedIn</a:t>
            </a:r>
          </a:p>
          <a:p>
            <a:r>
              <a:rPr lang="en-US" dirty="0">
                <a:solidFill>
                  <a:srgbClr val="FFFFFF"/>
                </a:solidFill>
              </a:rPr>
              <a:t>Posts within 24 hours for max engagement</a:t>
            </a:r>
          </a:p>
          <a:p>
            <a:r>
              <a:rPr lang="en-US" dirty="0">
                <a:solidFill>
                  <a:srgbClr val="FFFFFF"/>
                </a:solidFill>
              </a:rPr>
              <a:t>Values professional quality photos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318AB-2508-5852-5E21-9B76BC5A1CD2}"/>
              </a:ext>
            </a:extLst>
          </p:cNvPr>
          <p:cNvSpPr txBox="1"/>
          <p:nvPr/>
        </p:nvSpPr>
        <p:spPr>
          <a:xfrm>
            <a:off x="3924300" y="2349567"/>
            <a:ext cx="41394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Goals</a:t>
            </a:r>
          </a:p>
          <a:p>
            <a:r>
              <a:rPr lang="en-US" dirty="0">
                <a:solidFill>
                  <a:srgbClr val="FFFFFF"/>
                </a:solidFill>
              </a:rPr>
              <a:t>Get photos immediately while memories are fresh</a:t>
            </a:r>
          </a:p>
          <a:p>
            <a:r>
              <a:rPr lang="en-US" dirty="0">
                <a:solidFill>
                  <a:srgbClr val="FFFFFF"/>
                </a:solidFill>
              </a:rPr>
              <a:t>Easily find photos of himself without scrolling</a:t>
            </a:r>
          </a:p>
          <a:p>
            <a:r>
              <a:rPr lang="en-US" dirty="0">
                <a:solidFill>
                  <a:srgbClr val="FFFFFF"/>
                </a:solidFill>
              </a:rPr>
              <a:t>Share to social media during the event</a:t>
            </a:r>
          </a:p>
          <a:p>
            <a:r>
              <a:rPr lang="en-US" dirty="0">
                <a:solidFill>
                  <a:srgbClr val="FFFFFF"/>
                </a:solidFill>
              </a:rPr>
              <a:t>Enjoy events without phone distraction</a:t>
            </a:r>
          </a:p>
          <a:p>
            <a:r>
              <a:rPr lang="en-US" dirty="0">
                <a:solidFill>
                  <a:srgbClr val="FFFFFF"/>
                </a:solidFill>
              </a:rPr>
              <a:t>Build social media presence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321A9-4C69-3CE1-7EDF-7D08C00609BD}"/>
              </a:ext>
            </a:extLst>
          </p:cNvPr>
          <p:cNvSpPr txBox="1"/>
          <p:nvPr/>
        </p:nvSpPr>
        <p:spPr>
          <a:xfrm>
            <a:off x="8267700" y="0"/>
            <a:ext cx="3924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Frustration</a:t>
            </a:r>
          </a:p>
          <a:p>
            <a:r>
              <a:rPr lang="en-US" dirty="0">
                <a:solidFill>
                  <a:srgbClr val="FFFFFF"/>
                </a:solidFill>
              </a:rPr>
              <a:t>Receives photo links 3-4 weeks after events. Must scroll through 800+ photos to find himself  Misses social media engagement window. Phone photos are poor quality. Takes photos during events instead of enjoying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1F1850-7421-3803-2714-A1641343F46C}"/>
              </a:ext>
            </a:extLst>
          </p:cNvPr>
          <p:cNvSpPr txBox="1"/>
          <p:nvPr/>
        </p:nvSpPr>
        <p:spPr>
          <a:xfrm>
            <a:off x="8267700" y="2467445"/>
            <a:ext cx="39243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How </a:t>
            </a:r>
            <a:r>
              <a:rPr lang="en-US" b="1" dirty="0" err="1">
                <a:solidFill>
                  <a:srgbClr val="FFFFFF"/>
                </a:solidFill>
              </a:rPr>
              <a:t>FaceFind</a:t>
            </a:r>
            <a:r>
              <a:rPr lang="en-US" b="1" dirty="0">
                <a:solidFill>
                  <a:srgbClr val="A855F7"/>
                </a:solidFill>
              </a:rPr>
              <a:t> Helps</a:t>
            </a:r>
          </a:p>
          <a:p>
            <a:r>
              <a:rPr lang="en-US" dirty="0">
                <a:solidFill>
                  <a:srgbClr val="FFFFFF"/>
                </a:solidFill>
              </a:rPr>
              <a:t>Scan QR code at event entrance</a:t>
            </a:r>
          </a:p>
          <a:p>
            <a:r>
              <a:rPr lang="en-US" dirty="0">
                <a:solidFill>
                  <a:srgbClr val="FFFFFF"/>
                </a:solidFill>
              </a:rPr>
              <a:t>Upload one selfie</a:t>
            </a:r>
          </a:p>
          <a:p>
            <a:r>
              <a:rPr lang="en-US" dirty="0">
                <a:solidFill>
                  <a:srgbClr val="FFFFFF"/>
                </a:solidFill>
              </a:rPr>
              <a:t>AI finds ALL photos of Marcus</a:t>
            </a:r>
          </a:p>
          <a:p>
            <a:r>
              <a:rPr lang="en-US" dirty="0">
                <a:solidFill>
                  <a:srgbClr val="FFFFFF"/>
                </a:solidFill>
              </a:rPr>
              <a:t>Instant access to professional photos</a:t>
            </a:r>
          </a:p>
          <a:p>
            <a:r>
              <a:rPr lang="en-US" dirty="0">
                <a:solidFill>
                  <a:srgbClr val="FFFFFF"/>
                </a:solidFill>
              </a:rPr>
              <a:t>Share during event when engagement peaks</a:t>
            </a:r>
          </a:p>
          <a:p>
            <a:r>
              <a:rPr lang="en-US" dirty="0">
                <a:solidFill>
                  <a:srgbClr val="FFFFFF"/>
                </a:solidFill>
              </a:rPr>
              <a:t>Selfie deleted immediately after matching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389EC3-73C1-A7EA-BC30-ECFA57BE1B06}"/>
              </a:ext>
            </a:extLst>
          </p:cNvPr>
          <p:cNvSpPr txBox="1"/>
          <p:nvPr/>
        </p:nvSpPr>
        <p:spPr>
          <a:xfrm>
            <a:off x="4024338" y="4963321"/>
            <a:ext cx="7835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Quote</a:t>
            </a:r>
          </a:p>
          <a:p>
            <a:r>
              <a:rPr lang="en-US" dirty="0">
                <a:solidFill>
                  <a:srgbClr val="FFFFFF"/>
                </a:solidFill>
              </a:rPr>
              <a:t>"I just got the photo link from my cousin's wedding THREE WEEKS after the event. The moment has passed, everyone's moved on. Scrolling through 900 photos to find the 3 where I look decent is exhausting. Why can't someone just send me MY photos?"</a:t>
            </a:r>
          </a:p>
          <a:p>
            <a:r>
              <a:rPr lang="en-US" dirty="0">
                <a:solidFill>
                  <a:srgbClr val="FFFFFF"/>
                </a:solidFill>
              </a:rPr>
              <a:t>— Marcus Thompson, Wedding Guest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7AECA-1E06-7FD6-1005-AAABD70C33CD}"/>
              </a:ext>
            </a:extLst>
          </p:cNvPr>
          <p:cNvSpPr txBox="1"/>
          <p:nvPr/>
        </p:nvSpPr>
        <p:spPr>
          <a:xfrm>
            <a:off x="71616" y="4648200"/>
            <a:ext cx="3802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Demographics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Name : </a:t>
            </a:r>
            <a:r>
              <a:rPr lang="en-US" b="1" dirty="0">
                <a:solidFill>
                  <a:srgbClr val="FFFFFF"/>
                </a:solidFill>
              </a:rPr>
              <a:t>Marcus Thompson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Age : 28</a:t>
            </a:r>
          </a:p>
          <a:p>
            <a:r>
              <a:rPr lang="en-US" dirty="0">
                <a:solidFill>
                  <a:srgbClr val="FFFFFF"/>
                </a:solidFill>
              </a:rPr>
              <a:t>Location : Atlanta, GA</a:t>
            </a:r>
          </a:p>
          <a:p>
            <a:r>
              <a:rPr lang="en-US" dirty="0">
                <a:solidFill>
                  <a:srgbClr val="FFFFFF"/>
                </a:solidFill>
              </a:rPr>
              <a:t>Occupation : Marketing Manager</a:t>
            </a:r>
          </a:p>
          <a:p>
            <a:r>
              <a:rPr lang="en-US" dirty="0">
                <a:solidFill>
                  <a:srgbClr val="FFFFFF"/>
                </a:solidFill>
              </a:rPr>
              <a:t>Education : MBA, Emory University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11F763-273B-3944-4A32-ADA65197D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74281" cy="443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1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low_3B82F6"/>
          <p:cNvSpPr>
            <a:spLocks noGrp="1"/>
          </p:cNvSpPr>
          <p:nvPr/>
        </p:nvSpPr>
        <p:spPr>
          <a:xfrm>
            <a:off x="7200000" y="-500000"/>
            <a:ext cx="3000000" cy="3000000"/>
          </a:xfrm>
          <a:prstGeom prst="ellipse">
            <a:avLst/>
          </a:prstGeom>
          <a:gradFill>
            <a:gsLst>
              <a:gs pos="0">
                <a:srgbClr val="3B82F6">
                  <a:alpha val="14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Glow_7C3AED"/>
          <p:cNvSpPr>
            <a:spLocks noGrp="1"/>
          </p:cNvSpPr>
          <p:nvPr/>
        </p:nvSpPr>
        <p:spPr>
          <a:xfrm>
            <a:off x="-1200000" y="800000"/>
            <a:ext cx="3800000" cy="3800000"/>
          </a:xfrm>
          <a:prstGeom prst="ellipse">
            <a:avLst/>
          </a:pr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0A081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BFF62-9C2D-A733-5C41-65B774BC69C5}"/>
              </a:ext>
            </a:extLst>
          </p:cNvPr>
          <p:cNvSpPr txBox="1"/>
          <p:nvPr/>
        </p:nvSpPr>
        <p:spPr>
          <a:xfrm>
            <a:off x="50156" y="4627326"/>
            <a:ext cx="34676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Demographics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Name : </a:t>
            </a:r>
            <a:r>
              <a:rPr lang="en-US" b="1" dirty="0">
                <a:solidFill>
                  <a:srgbClr val="FFFFFF"/>
                </a:solidFill>
              </a:rPr>
              <a:t>Jordan</a:t>
            </a:r>
          </a:p>
          <a:p>
            <a:r>
              <a:rPr lang="en-US" dirty="0">
                <a:solidFill>
                  <a:srgbClr val="FFFFFF"/>
                </a:solidFill>
              </a:rPr>
              <a:t>Age : 40</a:t>
            </a:r>
          </a:p>
          <a:p>
            <a:r>
              <a:rPr lang="en-US" dirty="0">
                <a:solidFill>
                  <a:srgbClr val="FFFFFF"/>
                </a:solidFill>
              </a:rPr>
              <a:t>Location : Chicago, IL</a:t>
            </a:r>
          </a:p>
          <a:p>
            <a:r>
              <a:rPr lang="en-US" dirty="0">
                <a:solidFill>
                  <a:srgbClr val="FFFFFF"/>
                </a:solidFill>
              </a:rPr>
              <a:t>Company : Global Tech Solutions</a:t>
            </a:r>
          </a:p>
          <a:p>
            <a:r>
              <a:rPr lang="en-US" dirty="0">
                <a:solidFill>
                  <a:srgbClr val="FFFFFF"/>
                </a:solidFill>
              </a:rPr>
              <a:t>Position :Senior Events Manager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4B95E-A54B-BB7A-C142-DC32F699F289}"/>
              </a:ext>
            </a:extLst>
          </p:cNvPr>
          <p:cNvSpPr txBox="1"/>
          <p:nvPr/>
        </p:nvSpPr>
        <p:spPr>
          <a:xfrm>
            <a:off x="5638800" y="302721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4543F-649F-22A9-2B58-76ADF0B02BCF}"/>
              </a:ext>
            </a:extLst>
          </p:cNvPr>
          <p:cNvSpPr txBox="1"/>
          <p:nvPr/>
        </p:nvSpPr>
        <p:spPr>
          <a:xfrm>
            <a:off x="3435927" y="332509"/>
            <a:ext cx="46274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Profile</a:t>
            </a:r>
          </a:p>
          <a:p>
            <a:r>
              <a:rPr lang="en-US" dirty="0">
                <a:solidFill>
                  <a:srgbClr val="FFFFFF"/>
                </a:solidFill>
              </a:rPr>
              <a:t>Senior Events Manager with 12 years experience Organizes 15-20 corporate events annually Manages $3M annual event budget</a:t>
            </a:r>
          </a:p>
          <a:p>
            <a:r>
              <a:rPr lang="en-US" dirty="0">
                <a:solidFill>
                  <a:srgbClr val="FFFFFF"/>
                </a:solidFill>
              </a:rPr>
              <a:t>Average event: 100-500 attendees Reports to C-suite leadership Data-driven decision maker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34066-0B67-6FEF-E279-1CE90BADEF94}"/>
              </a:ext>
            </a:extLst>
          </p:cNvPr>
          <p:cNvSpPr txBox="1"/>
          <p:nvPr/>
        </p:nvSpPr>
        <p:spPr>
          <a:xfrm>
            <a:off x="3435927" y="2917832"/>
            <a:ext cx="4738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Goals</a:t>
            </a:r>
          </a:p>
          <a:p>
            <a:r>
              <a:rPr lang="en-US" dirty="0">
                <a:solidFill>
                  <a:srgbClr val="FFFFFF"/>
                </a:solidFill>
              </a:rPr>
              <a:t>Quick, secure photo delivery to employees</a:t>
            </a:r>
          </a:p>
          <a:p>
            <a:r>
              <a:rPr lang="en-US" dirty="0">
                <a:solidFill>
                  <a:srgbClr val="FFFFFF"/>
                </a:solidFill>
              </a:rPr>
              <a:t>Track engagement and measure ROI</a:t>
            </a:r>
          </a:p>
          <a:p>
            <a:r>
              <a:rPr lang="en-US" dirty="0">
                <a:solidFill>
                  <a:srgbClr val="FFFFFF"/>
                </a:solidFill>
              </a:rPr>
              <a:t>Control access with email whitelisting</a:t>
            </a:r>
          </a:p>
          <a:p>
            <a:r>
              <a:rPr lang="en-US" dirty="0">
                <a:solidFill>
                  <a:srgbClr val="FFFFFF"/>
                </a:solidFill>
              </a:rPr>
              <a:t>Generate reports for leadership</a:t>
            </a:r>
          </a:p>
          <a:p>
            <a:r>
              <a:rPr lang="en-US" dirty="0">
                <a:solidFill>
                  <a:srgbClr val="FFFFFF"/>
                </a:solidFill>
              </a:rPr>
              <a:t>Ensure data privacy and compliance</a:t>
            </a:r>
          </a:p>
          <a:p>
            <a:r>
              <a:rPr lang="en-US" dirty="0">
                <a:solidFill>
                  <a:srgbClr val="FFFFFF"/>
                </a:solidFill>
              </a:rPr>
              <a:t>Demonstrate event value beyond attendance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45978-1A72-4BA2-FB74-EFC6412576F9}"/>
              </a:ext>
            </a:extLst>
          </p:cNvPr>
          <p:cNvSpPr txBox="1"/>
          <p:nvPr/>
        </p:nvSpPr>
        <p:spPr>
          <a:xfrm>
            <a:off x="8174182" y="235527"/>
            <a:ext cx="40178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Frustration</a:t>
            </a:r>
          </a:p>
          <a:p>
            <a:r>
              <a:rPr lang="en-US" dirty="0">
                <a:solidFill>
                  <a:srgbClr val="FFFFFF"/>
                </a:solidFill>
              </a:rPr>
              <a:t>No way to track photo engagement or ROI. Privacy concerns with employee photos. Can't prove event value with hard data. Post-event follow-up has low response rates. Budget justification difficult without metrics</a:t>
            </a:r>
          </a:p>
          <a:p>
            <a:r>
              <a:rPr lang="en-US" dirty="0">
                <a:solidFill>
                  <a:srgbClr val="FFFFFF"/>
                </a:solidFill>
              </a:rPr>
              <a:t>Leadership asks: "What did we get for that investment?"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1B0A7-B7E0-B5B7-1AC5-6D0C79A7CCA2}"/>
              </a:ext>
            </a:extLst>
          </p:cNvPr>
          <p:cNvSpPr txBox="1"/>
          <p:nvPr/>
        </p:nvSpPr>
        <p:spPr>
          <a:xfrm>
            <a:off x="8174182" y="2917832"/>
            <a:ext cx="40178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How </a:t>
            </a:r>
            <a:r>
              <a:rPr lang="en-US" b="1" dirty="0" err="1">
                <a:solidFill>
                  <a:srgbClr val="FFFFFF"/>
                </a:solidFill>
              </a:rPr>
              <a:t>FaceFind</a:t>
            </a:r>
            <a:r>
              <a:rPr lang="en-US" b="1" dirty="0">
                <a:solidFill>
                  <a:srgbClr val="A855F7"/>
                </a:solidFill>
              </a:rPr>
              <a:t> Helps</a:t>
            </a:r>
          </a:p>
          <a:p>
            <a:r>
              <a:rPr lang="en-US" dirty="0">
                <a:solidFill>
                  <a:srgbClr val="FFFFFF"/>
                </a:solidFill>
              </a:rPr>
              <a:t>Private events with email whitelist</a:t>
            </a:r>
          </a:p>
          <a:p>
            <a:r>
              <a:rPr lang="en-US" dirty="0">
                <a:solidFill>
                  <a:srgbClr val="FFFFFF"/>
                </a:solidFill>
              </a:rPr>
              <a:t>Detailed analytics dashboard</a:t>
            </a:r>
          </a:p>
          <a:p>
            <a:r>
              <a:rPr lang="en-US" dirty="0">
                <a:solidFill>
                  <a:srgbClr val="FFFFFF"/>
                </a:solidFill>
              </a:rPr>
              <a:t>Exportable reports for leadership</a:t>
            </a:r>
          </a:p>
          <a:p>
            <a:r>
              <a:rPr lang="en-US" dirty="0">
                <a:solidFill>
                  <a:srgbClr val="FFFFFF"/>
                </a:solidFill>
              </a:rPr>
              <a:t>Automatic session expiration</a:t>
            </a:r>
          </a:p>
          <a:p>
            <a:r>
              <a:rPr lang="en-US" dirty="0">
                <a:solidFill>
                  <a:srgbClr val="FFFFFF"/>
                </a:solidFill>
              </a:rPr>
              <a:t>Corporate branding integration</a:t>
            </a:r>
          </a:p>
          <a:p>
            <a:r>
              <a:rPr lang="en-US" dirty="0">
                <a:solidFill>
                  <a:srgbClr val="FFFFFF"/>
                </a:solidFill>
              </a:rPr>
              <a:t>GDPR/CCPA compliant</a:t>
            </a:r>
          </a:p>
          <a:p>
            <a:r>
              <a:rPr lang="en-US" dirty="0">
                <a:solidFill>
                  <a:srgbClr val="FFFFFF"/>
                </a:solidFill>
              </a:rPr>
              <a:t>73% engagement in 48 hours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51CE1-6491-540F-7EF6-CB3A86C41F47}"/>
              </a:ext>
            </a:extLst>
          </p:cNvPr>
          <p:cNvSpPr txBox="1"/>
          <p:nvPr/>
        </p:nvSpPr>
        <p:spPr>
          <a:xfrm>
            <a:off x="3913908" y="5129762"/>
            <a:ext cx="82988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A855F7"/>
                </a:solidFill>
              </a:rPr>
              <a:t>Quote</a:t>
            </a:r>
          </a:p>
          <a:p>
            <a:r>
              <a:rPr lang="en-US" dirty="0">
                <a:solidFill>
                  <a:srgbClr val="FFFFFF"/>
                </a:solidFill>
              </a:rPr>
              <a:t>"Last year's leadership summit cost $250,000. When the CFO asked what we got for it, all I had was attendance numbers and some nice photos. Now I can show exactly how many people engaged, shared, and downloaded. That's how I justify next year's budget."</a:t>
            </a:r>
          </a:p>
          <a:p>
            <a:r>
              <a:rPr lang="en-US" dirty="0">
                <a:solidFill>
                  <a:srgbClr val="FFFFFF"/>
                </a:solidFill>
              </a:rPr>
              <a:t>— Jordan Chen, Senior Events Manager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21D742-4858-B96B-DA35-38E24BED1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25090" cy="43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1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1FC3CD6-5277-F67F-F106-9B7023E96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7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048000"/>
            <a:ext cx="6096000" cy="609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28960" y="646176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 /  9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646176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MVP</a:t>
            </a:r>
            <a:endParaRPr lang="en-US" sz="1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463296"/>
            <a:ext cx="1950720" cy="414528"/>
          </a:xfrm>
          <a:prstGeom prst="rect">
            <a:avLst/>
          </a:prstGeom>
          <a:solidFill>
            <a:srgbClr val="3B1F6B">
              <a:alpha val="7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48768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kern="0" spc="267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MVP SCOPE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03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Viable Product.</a:t>
            </a:r>
            <a:endParaRPr lang="en-US" sz="50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8897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What's in..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2560320"/>
            <a:ext cx="5303520" cy="3840480"/>
          </a:xfrm>
          <a:prstGeom prst="rect">
            <a:avLst/>
          </a:prstGeom>
          <a:solidFill>
            <a:srgbClr val="16122A"/>
          </a:solidFill>
          <a:ln w="6350">
            <a:solidFill>
              <a:srgbClr val="4B4369"/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" y="2560320"/>
            <a:ext cx="5303520" cy="512064"/>
          </a:xfrm>
          <a:prstGeom prst="rect">
            <a:avLst/>
          </a:prstGeom>
          <a:solidFill>
            <a:srgbClr val="2C1850"/>
          </a:solidFill>
          <a:ln w="12700">
            <a:solidFill>
              <a:srgbClr val="2C1850"/>
            </a:solidFill>
            <a:prstDash val="solid"/>
          </a:ln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56032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 IN THE MVP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77824" y="3255264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Photographer register &amp; login (JWT auth)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7824" y="3718560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&amp; manage events with QR codes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7824" y="4181856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photos → AI face indexing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7824" y="4645152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 selfie → instant photo match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7824" y="5108448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processing dashboard (WebSocket)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7824" y="5571744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4ADE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</a:t>
            </a:r>
            <a:r>
              <a:rPr lang="en-US" sz="1400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catalog &amp; browsing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8880" y="256032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3255264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3718560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22720" y="4181856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22720" y="4645152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5108448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5571744"/>
            <a:ext cx="47548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 descr="A poster with a few images of people&#10;&#10;AI-generated content may be incorrect.">
            <a:extLst>
              <a:ext uri="{FF2B5EF4-FFF2-40B4-BE49-F238E27FC236}">
                <a16:creationId xmlns:a16="http://schemas.microsoft.com/office/drawing/2014/main" id="{95E7FABB-DB7D-737B-B949-AEC81BFA0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" t="16513" r="4867" b="4880"/>
          <a:stretch>
            <a:fillRect/>
          </a:stretch>
        </p:blipFill>
        <p:spPr>
          <a:xfrm>
            <a:off x="5913120" y="2022525"/>
            <a:ext cx="6043337" cy="29165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194560" y="268224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414528"/>
            <a:ext cx="2194560" cy="365760"/>
          </a:xfrm>
          <a:prstGeom prst="rect">
            <a:avLst/>
          </a:prstGeom>
          <a:solidFill>
            <a:srgbClr val="3B1F6B">
              <a:alpha val="80000"/>
            </a:srgbClr>
          </a:solidFill>
          <a:ln w="762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26720"/>
            <a:ext cx="2194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kern="0" spc="333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92659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Full-Stack Technology Choices.</a:t>
            </a:r>
            <a:endParaRPr lang="en-US" sz="4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6448" y="1926336"/>
            <a:ext cx="5547360" cy="217017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6448" y="1926336"/>
            <a:ext cx="5547360" cy="67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0288" y="2048256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0288" y="2657856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99744" y="2609088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0288" y="2999232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9744" y="2950464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Redux Toolkit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0288" y="3340608"/>
            <a:ext cx="97536" cy="975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9744" y="3291840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Tailwind CSS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99744" y="3633216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12992" y="1926336"/>
            <a:ext cx="5547360" cy="217017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2992" y="1926336"/>
            <a:ext cx="5547360" cy="670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56832" y="2048256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4F46E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56832" y="2657856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76288" y="2609088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 + Express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56832" y="2999232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76288" y="2950464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 + Redis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56832" y="3340608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Auth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56832" y="3681984"/>
            <a:ext cx="97536" cy="975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76288" y="3633216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Socket.io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36448" y="4340352"/>
            <a:ext cx="5547360" cy="217017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36448" y="4340352"/>
            <a:ext cx="5547360" cy="67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80288" y="4462272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80288" y="5071872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9744" y="5023104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+ PyTorch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0288" y="5413248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9744" y="5364480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80288" y="5754624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99744" y="5705856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InsightFace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80288" y="6096000"/>
            <a:ext cx="97536" cy="975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9744" y="6047232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 + NumPy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12992" y="4340352"/>
            <a:ext cx="5547360" cy="217017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12992" y="4340352"/>
            <a:ext cx="5547360" cy="670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56832" y="4462272"/>
            <a:ext cx="49987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&amp; DevOps</a:t>
            </a:r>
            <a:endParaRPr lang="en-US" sz="1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656832" y="5071872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76288" y="5023104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S3 + CloudFront CDN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56832" y="5413248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76288" y="5364480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Containers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656832" y="5754624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76288" y="5705856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Actions CI/CD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56832" y="6096000"/>
            <a:ext cx="97536" cy="975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76288" y="6047232"/>
            <a:ext cx="487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Nginx Reverse Proxy</a:t>
            </a:r>
            <a:endParaRPr lang="en-US" sz="13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0" y="6484463"/>
            <a:ext cx="12192000" cy="268224"/>
          </a:xfrm>
          <a:prstGeom prst="rect">
            <a:avLst/>
          </a:prstGeom>
          <a:solidFill>
            <a:srgbClr val="3B1F6B"/>
          </a:solidFill>
          <a:ln w="12700">
            <a:solidFill>
              <a:srgbClr val="3B1F6B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2195" y="6473952"/>
            <a:ext cx="12192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2D9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MERN Stack + Python ML Microservice + Cloud Infrastructure (AWS)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87680" y="64983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CS 691  ·  Team 7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728960" y="6498336"/>
            <a:ext cx="975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/ 17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68224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09600" y="414528"/>
            <a:ext cx="2072640" cy="365760"/>
          </a:xfrm>
          <a:prstGeom prst="rect">
            <a:avLst/>
          </a:prstGeom>
          <a:solidFill>
            <a:srgbClr val="3B1F6B">
              <a:alpha val="80000"/>
            </a:srgbClr>
          </a:solidFill>
          <a:ln w="762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09600" y="426720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kern="0" spc="333" dirty="0">
                <a:solidFill>
                  <a:srgbClr val="A855F7"/>
                </a:solidFill>
              </a:rPr>
              <a:t>ALGORITHMS</a:t>
            </a:r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609600" y="926592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</a:rPr>
              <a:t>ML / AI Algorithms Used.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36448" y="1975104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536448" y="1975104"/>
            <a:ext cx="3535680" cy="67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1816608" y="2121408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🤖</a:t>
            </a:r>
            <a:endParaRPr lang="en-US" sz="3733" dirty="0"/>
          </a:p>
        </p:txBody>
      </p:sp>
      <p:sp>
        <p:nvSpPr>
          <p:cNvPr id="11" name="Text 9"/>
          <p:cNvSpPr/>
          <p:nvPr/>
        </p:nvSpPr>
        <p:spPr>
          <a:xfrm>
            <a:off x="682752" y="3072384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ML / AI Algorithms</a:t>
            </a:r>
            <a:endParaRPr lang="en-US" sz="1533" dirty="0"/>
          </a:p>
        </p:txBody>
      </p:sp>
      <p:sp>
        <p:nvSpPr>
          <p:cNvPr id="12" name="Text 10"/>
          <p:cNvSpPr/>
          <p:nvPr/>
        </p:nvSpPr>
        <p:spPr>
          <a:xfrm>
            <a:off x="682752" y="3535680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7C3AED"/>
                </a:solidFill>
              </a:rPr>
              <a:t>Core framework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4340352" y="1975104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4340352" y="1975104"/>
            <a:ext cx="3535680" cy="670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5620512" y="2121408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🔍</a:t>
            </a:r>
            <a:endParaRPr lang="en-US" sz="3733" dirty="0"/>
          </a:p>
        </p:txBody>
      </p:sp>
      <p:sp>
        <p:nvSpPr>
          <p:cNvPr id="16" name="Text 14"/>
          <p:cNvSpPr/>
          <p:nvPr/>
        </p:nvSpPr>
        <p:spPr>
          <a:xfrm>
            <a:off x="4486656" y="3072384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Face Detection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4486656" y="3535680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4F46E5"/>
                </a:solidFill>
              </a:rPr>
              <a:t>MTCNN / RetinaFace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8144256" y="1975104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8144256" y="1975104"/>
            <a:ext cx="3535680" cy="67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9424416" y="2121408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🧠</a:t>
            </a:r>
            <a:endParaRPr lang="en-US" sz="3733" dirty="0"/>
          </a:p>
        </p:txBody>
      </p:sp>
      <p:sp>
        <p:nvSpPr>
          <p:cNvPr id="21" name="Text 19"/>
          <p:cNvSpPr/>
          <p:nvPr/>
        </p:nvSpPr>
        <p:spPr>
          <a:xfrm>
            <a:off x="8290560" y="3072384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Face Embedding</a:t>
            </a:r>
            <a:endParaRPr lang="en-US" sz="1533" dirty="0"/>
          </a:p>
        </p:txBody>
      </p:sp>
      <p:sp>
        <p:nvSpPr>
          <p:cNvPr id="22" name="Text 20"/>
          <p:cNvSpPr/>
          <p:nvPr/>
        </p:nvSpPr>
        <p:spPr>
          <a:xfrm>
            <a:off x="8290560" y="3535680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3B82F6"/>
                </a:solidFill>
              </a:rPr>
              <a:t>ArcFace (InsightFace)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536448" y="4267200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536448" y="4267200"/>
            <a:ext cx="3535680" cy="670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1816608" y="4413504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🔎</a:t>
            </a:r>
            <a:endParaRPr lang="en-US" sz="3733" dirty="0"/>
          </a:p>
        </p:txBody>
      </p:sp>
      <p:sp>
        <p:nvSpPr>
          <p:cNvPr id="26" name="Text 24"/>
          <p:cNvSpPr/>
          <p:nvPr/>
        </p:nvSpPr>
        <p:spPr>
          <a:xfrm>
            <a:off x="682752" y="5364480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Similarity Search</a:t>
            </a:r>
            <a:endParaRPr lang="en-US" sz="1533" dirty="0"/>
          </a:p>
        </p:txBody>
      </p:sp>
      <p:sp>
        <p:nvSpPr>
          <p:cNvPr id="27" name="Text 25"/>
          <p:cNvSpPr/>
          <p:nvPr/>
        </p:nvSpPr>
        <p:spPr>
          <a:xfrm>
            <a:off x="682752" y="5827776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14B8A6"/>
                </a:solidFill>
              </a:rPr>
              <a:t>FAISS / pgvector</a:t>
            </a:r>
            <a:endParaRPr lang="en-US" sz="1267" dirty="0"/>
          </a:p>
        </p:txBody>
      </p:sp>
      <p:sp>
        <p:nvSpPr>
          <p:cNvPr id="28" name="Shape 26"/>
          <p:cNvSpPr/>
          <p:nvPr/>
        </p:nvSpPr>
        <p:spPr>
          <a:xfrm>
            <a:off x="4340352" y="4267200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9" name="Shape 27"/>
          <p:cNvSpPr/>
          <p:nvPr/>
        </p:nvSpPr>
        <p:spPr>
          <a:xfrm>
            <a:off x="4340352" y="4267200"/>
            <a:ext cx="3535680" cy="6705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5620512" y="4413504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🗂️</a:t>
            </a:r>
            <a:endParaRPr lang="en-US" sz="3733" dirty="0"/>
          </a:p>
        </p:txBody>
      </p:sp>
      <p:sp>
        <p:nvSpPr>
          <p:cNvPr id="31" name="Text 29"/>
          <p:cNvSpPr/>
          <p:nvPr/>
        </p:nvSpPr>
        <p:spPr>
          <a:xfrm>
            <a:off x="4486656" y="5364480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Clustering (Future)</a:t>
            </a:r>
            <a:endParaRPr lang="en-US" sz="1533" dirty="0"/>
          </a:p>
        </p:txBody>
      </p:sp>
      <p:sp>
        <p:nvSpPr>
          <p:cNvPr id="32" name="Text 30"/>
          <p:cNvSpPr/>
          <p:nvPr/>
        </p:nvSpPr>
        <p:spPr>
          <a:xfrm>
            <a:off x="4486656" y="5827776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BBF24"/>
                </a:solidFill>
              </a:rPr>
              <a:t>K-Means / DBSCAN</a:t>
            </a:r>
            <a:endParaRPr lang="en-US" sz="1267" dirty="0"/>
          </a:p>
        </p:txBody>
      </p:sp>
      <p:sp>
        <p:nvSpPr>
          <p:cNvPr id="33" name="Shape 31"/>
          <p:cNvSpPr/>
          <p:nvPr/>
        </p:nvSpPr>
        <p:spPr>
          <a:xfrm>
            <a:off x="8144256" y="4267200"/>
            <a:ext cx="3535680" cy="2048256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8144256" y="4267200"/>
            <a:ext cx="3535680" cy="670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9424416" y="4413504"/>
            <a:ext cx="975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👁️</a:t>
            </a:r>
            <a:endParaRPr lang="en-US" sz="3733" dirty="0"/>
          </a:p>
        </p:txBody>
      </p:sp>
      <p:sp>
        <p:nvSpPr>
          <p:cNvPr id="36" name="Text 34"/>
          <p:cNvSpPr/>
          <p:nvPr/>
        </p:nvSpPr>
        <p:spPr>
          <a:xfrm>
            <a:off x="8290560" y="5364480"/>
            <a:ext cx="324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33" b="1" dirty="0">
                <a:solidFill>
                  <a:srgbClr val="FFFFFF"/>
                </a:solidFill>
              </a:rPr>
              <a:t>Pattern Recognition</a:t>
            </a:r>
            <a:endParaRPr lang="en-US" sz="1533" dirty="0"/>
          </a:p>
        </p:txBody>
      </p:sp>
      <p:sp>
        <p:nvSpPr>
          <p:cNvPr id="37" name="Text 35"/>
          <p:cNvSpPr/>
          <p:nvPr/>
        </p:nvSpPr>
        <p:spPr>
          <a:xfrm>
            <a:off x="8290560" y="5827776"/>
            <a:ext cx="32430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A855F7"/>
                </a:solidFill>
              </a:rPr>
              <a:t>Deep Learning CNNs</a:t>
            </a:r>
            <a:endParaRPr lang="en-US" sz="1267" dirty="0"/>
          </a:p>
        </p:txBody>
      </p:sp>
      <p:sp>
        <p:nvSpPr>
          <p:cNvPr id="38" name="Text 36"/>
          <p:cNvSpPr/>
          <p:nvPr/>
        </p:nvSpPr>
        <p:spPr>
          <a:xfrm>
            <a:off x="487680" y="64983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B4369"/>
                </a:solidFill>
              </a:rPr>
              <a:t>FaceFind  ·  CS 691  ·  Team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28960" y="6498336"/>
            <a:ext cx="975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1C0BDB1-EF16-0029-66A8-06A894F49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7" b="10316"/>
          <a:stretch>
            <a:fillRect/>
          </a:stretch>
        </p:blipFill>
        <p:spPr>
          <a:xfrm>
            <a:off x="1488" y="0"/>
            <a:ext cx="12540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39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2A7271-96A3-AA7B-0FE1-D6169EC3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" y="5213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Architecture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924755-BDDF-D9BB-E8CE-81B4666DD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755" y="1214966"/>
            <a:ext cx="4818709" cy="56887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18E6CD-BA03-CB61-4612-F708F60D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" y="-77566"/>
            <a:ext cx="11212286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Diagram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61677E0-0998-C9C1-415B-1BF904455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248" y="1009009"/>
            <a:ext cx="10216072" cy="56051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43BE11-7226-B0C2-AB85-C571BE87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566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 ER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0415A0-9752-761A-DE7E-184838F3B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807" y="929998"/>
            <a:ext cx="9965346" cy="59280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FF4EE9-91E6-39EB-A28D-C4864664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023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Sequence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FA66B0-7FF1-FD33-75E0-A69A3B01F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513" y="1015538"/>
            <a:ext cx="5776365" cy="59339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F03B06-9892-00C1-4BF9-5D6F6B9B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18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State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C8EF80-0886-1CF7-43EB-52D8F4972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036" y="894424"/>
            <a:ext cx="5795768" cy="60092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F0911A-A19E-92C6-8E15-C4C93987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01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Class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F29483-2F2E-4C20-3D5D-0A159939C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531" y="1037977"/>
            <a:ext cx="8534400" cy="59276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B53A4-C51F-DE44-27D4-F7FC906A8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2" b="6666"/>
          <a:stretch>
            <a:fillRect/>
          </a:stretch>
        </p:blipFill>
        <p:spPr>
          <a:xfrm>
            <a:off x="1488" y="0"/>
            <a:ext cx="12299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78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773ECE-FD69-50CD-FF30-147BCCECE995}"/>
              </a:ext>
            </a:extLst>
          </p:cNvPr>
          <p:cNvSpPr txBox="1"/>
          <p:nvPr/>
        </p:nvSpPr>
        <p:spPr>
          <a:xfrm>
            <a:off x="61361" y="114899"/>
            <a:ext cx="670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+mj-lt"/>
              </a:rPr>
              <a:t>Sprint 1 Backlog</a:t>
            </a:r>
            <a:endParaRPr lang="en-IN" sz="60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AE2C50-729D-5AD2-CAD2-89848764C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190" y="1103376"/>
            <a:ext cx="811530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23E3-CFAC-0915-BC35-E596D04B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0C9B76-1DD6-04A7-BBB6-5D1561B99F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AAD142-3B50-4457-8FC1-0F0A016C314E}"/>
              </a:ext>
            </a:extLst>
          </p:cNvPr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270771-A706-ADA8-BEFB-BB2C464D3573}"/>
              </a:ext>
            </a:extLst>
          </p:cNvPr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7AAAE9-2D60-1140-D7C4-A23FA2E87E9F}"/>
              </a:ext>
            </a:extLst>
          </p:cNvPr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727AC4-7986-22A3-B0AA-C15DAE6FDEDC}"/>
              </a:ext>
            </a:extLst>
          </p:cNvPr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208465-EE38-3627-41F5-EAE7ED4BBB2B}"/>
              </a:ext>
            </a:extLst>
          </p:cNvPr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3D5EED-207E-19C1-FE12-E29727ED0821}"/>
              </a:ext>
            </a:extLst>
          </p:cNvPr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9183B8A-7889-FAA1-352D-AF7541F51064}"/>
              </a:ext>
            </a:extLst>
          </p:cNvPr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34F27BE-EE2D-A530-120D-0849542D12FE}"/>
              </a:ext>
            </a:extLst>
          </p:cNvPr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59E30E-B6B3-7233-9B91-90EBB1FFD7ED}"/>
              </a:ext>
            </a:extLst>
          </p:cNvPr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298F766-0EFE-C3EC-E278-48119A437ECA}"/>
              </a:ext>
            </a:extLst>
          </p:cNvPr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652EB9-6553-1BE5-03C8-2988668299EA}"/>
              </a:ext>
            </a:extLst>
          </p:cNvPr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D27D1D0-A6D3-DFC1-1394-52501EB170B6}"/>
              </a:ext>
            </a:extLst>
          </p:cNvPr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A483A14-0269-5DE9-3320-A12B00E20987}"/>
              </a:ext>
            </a:extLst>
          </p:cNvPr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8F42CF5-F84E-7F85-2780-EA7CC64908D5}"/>
              </a:ext>
            </a:extLst>
          </p:cNvPr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21AFA2-F68E-B81E-6333-95C6C745B14E}"/>
              </a:ext>
            </a:extLst>
          </p:cNvPr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FD5123F-E75C-45E1-E3D0-68F8500B087B}"/>
              </a:ext>
            </a:extLst>
          </p:cNvPr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0AAFE9-10B6-B30B-A8B7-B65EDE480B25}"/>
              </a:ext>
            </a:extLst>
          </p:cNvPr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CB3B1-A922-ABFD-4BF2-278939211109}"/>
              </a:ext>
            </a:extLst>
          </p:cNvPr>
          <p:cNvSpPr txBox="1"/>
          <p:nvPr/>
        </p:nvSpPr>
        <p:spPr>
          <a:xfrm>
            <a:off x="487680" y="331597"/>
            <a:ext cx="117043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Sprint Velocity Metrics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A team's velocity chart tracks the amount of work completed in each sprint over a series of sprints, enabling the identification of trends and the prediction of future capacity. Velocity typically reflects the story points or work units a team can realistically commit to and successfully complete in a given iteration, a concept further explained by 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Here is the velocity data for "Capstone Sprint 2":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Sprint Name:</a:t>
            </a:r>
            <a:r>
              <a:rPr lang="en-US" dirty="0">
                <a:solidFill>
                  <a:schemeClr val="bg1"/>
                </a:solidFill>
              </a:rPr>
              <a:t> Capstone Sprint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Total Committed Points:</a:t>
            </a:r>
            <a:r>
              <a:rPr lang="en-US" dirty="0">
                <a:solidFill>
                  <a:schemeClr val="bg1"/>
                </a:solidFill>
              </a:rPr>
              <a:t> 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Total Completed Points:</a:t>
            </a:r>
            <a:r>
              <a:rPr lang="en-US" dirty="0">
                <a:solidFill>
                  <a:schemeClr val="bg1"/>
                </a:solidFill>
              </a:rPr>
              <a:t> 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Zero Spillover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Velocity:</a:t>
            </a:r>
            <a:r>
              <a:rPr lang="en-US" dirty="0">
                <a:solidFill>
                  <a:schemeClr val="bg1"/>
                </a:solidFill>
              </a:rPr>
              <a:t> 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Team Manber Velocity Chart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1B8F4-6FAA-4064-5E87-33A27CBC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632204"/>
            <a:ext cx="5693664" cy="522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48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CAE634-5E4E-74B1-792E-1435B2402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493"/>
          <a:stretch>
            <a:fillRect/>
          </a:stretch>
        </p:blipFill>
        <p:spPr>
          <a:xfrm>
            <a:off x="2301073" y="679704"/>
            <a:ext cx="7913397" cy="53736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03A2-B0F3-72DD-866F-7AC2CA83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D7D638-AF0B-48EF-46E9-5316BFD953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79A176-F0DA-90ED-DE98-4AF55F83701C}"/>
              </a:ext>
            </a:extLst>
          </p:cNvPr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0349DE-F18A-2523-7F9B-351E26D47F32}"/>
              </a:ext>
            </a:extLst>
          </p:cNvPr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A6499E4-FA9B-BB16-B236-BE360BC5B4DC}"/>
              </a:ext>
            </a:extLst>
          </p:cNvPr>
          <p:cNvSpPr/>
          <p:nvPr/>
        </p:nvSpPr>
        <p:spPr>
          <a:xfrm>
            <a:off x="2381795" y="786384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E6A43D-7487-77F1-A12B-EC3677C6F989}"/>
              </a:ext>
            </a:extLst>
          </p:cNvPr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25D876-6196-FAA6-77D7-8FB2CC4AD53C}"/>
              </a:ext>
            </a:extLst>
          </p:cNvPr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27D33E-09FB-9DCE-DBD4-0C812F353013}"/>
              </a:ext>
            </a:extLst>
          </p:cNvPr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6FB964-F98F-474B-1666-158B433B2892}"/>
              </a:ext>
            </a:extLst>
          </p:cNvPr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052BFC-BE6D-3F63-4657-217032ABBF1D}"/>
              </a:ext>
            </a:extLst>
          </p:cNvPr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6BA121-5EF7-E092-9F7F-E3343960BE1F}"/>
              </a:ext>
            </a:extLst>
          </p:cNvPr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62DC4A-AA8F-119F-C52B-90C3E197913B}"/>
              </a:ext>
            </a:extLst>
          </p:cNvPr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5CA67A-021A-12D0-E6A6-8C9CC35A488D}"/>
              </a:ext>
            </a:extLst>
          </p:cNvPr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77AF91E-32A3-A1A0-0B72-E8C3E6597F32}"/>
              </a:ext>
            </a:extLst>
          </p:cNvPr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07DED95-55B1-3F0F-4DC6-62E767199CDB}"/>
              </a:ext>
            </a:extLst>
          </p:cNvPr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E44CC5-6315-8206-4D1E-3C5F2B9E9ABC}"/>
              </a:ext>
            </a:extLst>
          </p:cNvPr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438FBA-D95F-C339-FBDF-8F8D47F32083}"/>
              </a:ext>
            </a:extLst>
          </p:cNvPr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717AAB3-9E65-4383-3912-BC21037ECC93}"/>
              </a:ext>
            </a:extLst>
          </p:cNvPr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5D4434F-886F-A2D4-23DA-E6C19FA26342}"/>
              </a:ext>
            </a:extLst>
          </p:cNvPr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6E0493-6562-1EBB-EBD7-E41C426F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26" y="2033844"/>
            <a:ext cx="4706007" cy="45154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AD6737-5122-23CA-684C-07BB0A3299EE}"/>
              </a:ext>
            </a:extLst>
          </p:cNvPr>
          <p:cNvSpPr txBox="1"/>
          <p:nvPr/>
        </p:nvSpPr>
        <p:spPr>
          <a:xfrm>
            <a:off x="752526" y="633984"/>
            <a:ext cx="7657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+mj-lt"/>
              </a:rPr>
              <a:t>Technical Cards </a:t>
            </a:r>
            <a:endParaRPr lang="en-IN" sz="60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E502ED4-2469-B3A3-92F0-FFAB1DDB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022" r="965" b="-1646"/>
          <a:stretch>
            <a:fillRect/>
          </a:stretch>
        </p:blipFill>
        <p:spPr>
          <a:xfrm>
            <a:off x="6753852" y="1930400"/>
            <a:ext cx="4613447" cy="482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83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B5908-89C6-CFC2-1396-EDB384DA1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" t="6017" r="3426" b="8888"/>
          <a:stretch>
            <a:fillRect/>
          </a:stretch>
        </p:blipFill>
        <p:spPr>
          <a:xfrm>
            <a:off x="-943601" y="0"/>
            <a:ext cx="13596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40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633984"/>
            <a:ext cx="8641582" cy="6315456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2F719-847E-7783-A0F4-978A5AA7FC66}"/>
              </a:ext>
            </a:extLst>
          </p:cNvPr>
          <p:cNvSpPr txBox="1"/>
          <p:nvPr/>
        </p:nvSpPr>
        <p:spPr>
          <a:xfrm>
            <a:off x="0" y="50321"/>
            <a:ext cx="6577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+mj-lt"/>
              </a:rPr>
              <a:t>Sprint 2 Backlog</a:t>
            </a:r>
            <a:endParaRPr lang="en-IN" sz="6000" dirty="0">
              <a:latin typeface="+mj-l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28FAA0E-3482-E032-26F7-037627790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955" y="1420368"/>
            <a:ext cx="10031225" cy="496214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42944-1EDE-A0A4-4BD9-83C1BE06A486}"/>
              </a:ext>
            </a:extLst>
          </p:cNvPr>
          <p:cNvSpPr txBox="1"/>
          <p:nvPr/>
        </p:nvSpPr>
        <p:spPr>
          <a:xfrm>
            <a:off x="487680" y="436602"/>
            <a:ext cx="6023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+mj-lt"/>
              </a:rPr>
              <a:t>Sprint 3 Backlog</a:t>
            </a:r>
            <a:endParaRPr lang="en-IN" sz="6000" dirty="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58591C-93A3-CCFA-6D90-984DB1420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516" y="2086918"/>
            <a:ext cx="10059804" cy="4334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E5F82A-B29E-D260-372A-AB4EFF9B3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7" b="66978"/>
          <a:stretch>
            <a:fillRect/>
          </a:stretch>
        </p:blipFill>
        <p:spPr>
          <a:xfrm>
            <a:off x="233156" y="2267712"/>
            <a:ext cx="11958844" cy="253593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695617C-C83E-3515-94BE-21CDB846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Cases</a:t>
            </a:r>
          </a:p>
        </p:txBody>
      </p:sp>
    </p:spTree>
    <p:extLst>
      <p:ext uri="{BB962C8B-B14F-4D97-AF65-F5344CB8AC3E}">
        <p14:creationId xmlns:p14="http://schemas.microsoft.com/office/powerpoint/2010/main" val="502152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C2030-41DD-70E6-2946-C3E6CBABC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01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5021-A0BA-EDB0-5618-4040E514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13" y="56405"/>
            <a:ext cx="10805790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50000"/>
                  </a:schemeClr>
                </a:solidFill>
              </a:rPr>
              <a:t>First Page ( Demo)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4F971B-5D7B-DA8B-070B-F97C88E2C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1" t="16111" r="1459" b="6666"/>
          <a:stretch>
            <a:fillRect/>
          </a:stretch>
        </p:blipFill>
        <p:spPr>
          <a:xfrm>
            <a:off x="1379284" y="1160603"/>
            <a:ext cx="10128704" cy="56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21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9050-D23C-0D21-5749-D41C606A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923" y="-174064"/>
            <a:ext cx="10805790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accent1">
                    <a:lumMod val="50000"/>
                  </a:schemeClr>
                </a:solidFill>
              </a:rPr>
              <a:t>Catalog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48CC8D-4D56-7734-9C28-7A1F5FA10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59" r="1222" b="5784"/>
          <a:stretch>
            <a:fillRect/>
          </a:stretch>
        </p:blipFill>
        <p:spPr>
          <a:xfrm>
            <a:off x="170337" y="1247747"/>
            <a:ext cx="11839190" cy="5141195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04493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6E87-B73A-7FE2-3BDF-817C5686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125" y="-178263"/>
            <a:ext cx="10805790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chemeClr val="accent1">
                    <a:lumMod val="50000"/>
                  </a:schemeClr>
                </a:solidFill>
              </a:rPr>
              <a:t>Register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6B085-DCE0-AA96-8AFD-EF4DB12F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407" r="2291" b="6297"/>
          <a:stretch>
            <a:fillRect/>
          </a:stretch>
        </p:blipFill>
        <p:spPr>
          <a:xfrm>
            <a:off x="53428" y="1335578"/>
            <a:ext cx="12073008" cy="530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81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F13E7-457A-62F6-E50F-EEFE477E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5D686-5F0B-E4D8-514B-46ED5D8DE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98" r="1980" b="6851"/>
          <a:stretch>
            <a:fillRect/>
          </a:stretch>
        </p:blipFill>
        <p:spPr>
          <a:xfrm>
            <a:off x="1590595" y="2354239"/>
            <a:ext cx="901081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96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D24CA-E9CD-1FEA-741B-A96A0049D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Dashboard Page (after Login)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88E09-1C21-C862-5C9D-25E61BE1D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67" y="1675227"/>
            <a:ext cx="1021906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0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DD36-CCAA-0D23-1885-A8F11C01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ED4490-A805-B8A0-EAF3-CB29879C6E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03B706-AE2A-3B48-870E-05B58E1C51A5}"/>
              </a:ext>
            </a:extLst>
          </p:cNvPr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41D1D0-1508-E65B-7CD7-35612F343A01}"/>
              </a:ext>
            </a:extLst>
          </p:cNvPr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B177CF-3D0F-5BA9-9CBF-9CCF45ECAF17}"/>
              </a:ext>
            </a:extLst>
          </p:cNvPr>
          <p:cNvSpPr/>
          <p:nvPr/>
        </p:nvSpPr>
        <p:spPr>
          <a:xfrm>
            <a:off x="2381795" y="786384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0BF03D-0C12-3568-878B-93FBB850F85A}"/>
              </a:ext>
            </a:extLst>
          </p:cNvPr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AB79A8-60F5-F0B9-D6F8-CBD23D762340}"/>
              </a:ext>
            </a:extLst>
          </p:cNvPr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2AB498-A527-F607-6F98-6AD08EE5C35F}"/>
              </a:ext>
            </a:extLst>
          </p:cNvPr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AA20B8-423A-939A-2F04-19AE73C379D2}"/>
              </a:ext>
            </a:extLst>
          </p:cNvPr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F2D7206-06C4-EEF7-F556-231D60557D53}"/>
              </a:ext>
            </a:extLst>
          </p:cNvPr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A7044A-D724-6FB1-4C75-E677CCBE445F}"/>
              </a:ext>
            </a:extLst>
          </p:cNvPr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DEAB9D-444A-5886-E821-9A1CDADD6A3A}"/>
              </a:ext>
            </a:extLst>
          </p:cNvPr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DB0851-75D8-BA49-EEE5-321942B395DA}"/>
              </a:ext>
            </a:extLst>
          </p:cNvPr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4E2358-8E8B-014F-51D6-9AC739629177}"/>
              </a:ext>
            </a:extLst>
          </p:cNvPr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0CB9FEB-30E6-2D44-C5E6-16B5E21DA9CD}"/>
              </a:ext>
            </a:extLst>
          </p:cNvPr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5CE8EB2-BE1A-5BCB-F4A3-19C82BC1E458}"/>
              </a:ext>
            </a:extLst>
          </p:cNvPr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C67B6C0-C11D-BA13-1134-B68EF3465020}"/>
              </a:ext>
            </a:extLst>
          </p:cNvPr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CF517B-65F3-A76F-77C5-11B2B3D5BA58}"/>
              </a:ext>
            </a:extLst>
          </p:cNvPr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B4052E4-5637-01D9-3822-588BDFC5BE21}"/>
              </a:ext>
            </a:extLst>
          </p:cNvPr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BC4DD6-CBC2-4C62-7B77-05D1775EF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805" y="94274"/>
            <a:ext cx="9341395" cy="64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9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BFCC-1475-3A0A-114E-8FC992F3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694F17-F44D-6DB1-289F-2DE372C315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40003A-B95F-401A-D96A-F32F0EB89EE6}"/>
              </a:ext>
            </a:extLst>
          </p:cNvPr>
          <p:cNvSpPr/>
          <p:nvPr/>
        </p:nvSpPr>
        <p:spPr>
          <a:xfrm>
            <a:off x="-2194560" y="243840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C48FCC-82A9-984E-42DF-70C7646B0AEC}"/>
              </a:ext>
            </a:extLst>
          </p:cNvPr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C3FA52-B57F-4F56-8ACE-1A8574A65DF2}"/>
              </a:ext>
            </a:extLst>
          </p:cNvPr>
          <p:cNvSpPr/>
          <p:nvPr/>
        </p:nvSpPr>
        <p:spPr>
          <a:xfrm>
            <a:off x="1828800" y="243840"/>
            <a:ext cx="8534400" cy="6705600"/>
          </a:xfrm>
          <a:prstGeom prst="ellipse">
            <a:avLst/>
          </a:prstGeom>
          <a:solidFill>
            <a:srgbClr val="A855F7">
              <a:alpha val="4000"/>
            </a:srgbClr>
          </a:solidFill>
          <a:ln w="12700">
            <a:solidFill>
              <a:srgbClr val="A855F7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224ABA-3DCB-1F64-304D-5D9B65507AE5}"/>
              </a:ext>
            </a:extLst>
          </p:cNvPr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6667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7D685E-A78D-A023-CFC7-2A9F5B2F1607}"/>
              </a:ext>
            </a:extLst>
          </p:cNvPr>
          <p:cNvSpPr/>
          <p:nvPr/>
        </p:nvSpPr>
        <p:spPr>
          <a:xfrm>
            <a:off x="1219200" y="2511552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385830-ED23-7E1C-9A49-A124D8489236}"/>
              </a:ext>
            </a:extLst>
          </p:cNvPr>
          <p:cNvSpPr/>
          <p:nvPr/>
        </p:nvSpPr>
        <p:spPr>
          <a:xfrm>
            <a:off x="1219200" y="3413760"/>
            <a:ext cx="97536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133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381AAE-1134-6906-5D44-CC2329E0BB85}"/>
              </a:ext>
            </a:extLst>
          </p:cNvPr>
          <p:cNvSpPr/>
          <p:nvPr/>
        </p:nvSpPr>
        <p:spPr>
          <a:xfrm>
            <a:off x="288950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38CDB3A-54DD-E4EC-A080-10E1362F89D9}"/>
              </a:ext>
            </a:extLst>
          </p:cNvPr>
          <p:cNvSpPr/>
          <p:nvPr/>
        </p:nvSpPr>
        <p:spPr>
          <a:xfrm>
            <a:off x="182880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103361-4471-5C8F-A8B1-0B0A35EC597F}"/>
              </a:ext>
            </a:extLst>
          </p:cNvPr>
          <p:cNvSpPr/>
          <p:nvPr/>
        </p:nvSpPr>
        <p:spPr>
          <a:xfrm>
            <a:off x="182880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5015C3-C441-9A00-7A5E-7E2A88F51A32}"/>
              </a:ext>
            </a:extLst>
          </p:cNvPr>
          <p:cNvSpPr/>
          <p:nvPr/>
        </p:nvSpPr>
        <p:spPr>
          <a:xfrm>
            <a:off x="612038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46A6E0A-8884-8090-E130-67D2988972E9}"/>
              </a:ext>
            </a:extLst>
          </p:cNvPr>
          <p:cNvSpPr/>
          <p:nvPr/>
        </p:nvSpPr>
        <p:spPr>
          <a:xfrm>
            <a:off x="505968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34C3538-178E-C6B6-3710-BD50288B07FE}"/>
              </a:ext>
            </a:extLst>
          </p:cNvPr>
          <p:cNvSpPr/>
          <p:nvPr/>
        </p:nvSpPr>
        <p:spPr>
          <a:xfrm>
            <a:off x="505968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1B53DF-643E-9B20-D751-1985CF7357B4}"/>
              </a:ext>
            </a:extLst>
          </p:cNvPr>
          <p:cNvSpPr/>
          <p:nvPr/>
        </p:nvSpPr>
        <p:spPr>
          <a:xfrm>
            <a:off x="9351264" y="4462272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A0EA7-E0C7-25C2-113D-07B0469034ED}"/>
              </a:ext>
            </a:extLst>
          </p:cNvPr>
          <p:cNvSpPr/>
          <p:nvPr/>
        </p:nvSpPr>
        <p:spPr>
          <a:xfrm>
            <a:off x="8290560" y="5096256"/>
            <a:ext cx="27797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693BCC0-C63D-253C-15F0-90FB0EA68749}"/>
              </a:ext>
            </a:extLst>
          </p:cNvPr>
          <p:cNvSpPr/>
          <p:nvPr/>
        </p:nvSpPr>
        <p:spPr>
          <a:xfrm>
            <a:off x="8290560" y="5462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5F4B324-1A3E-B3C7-F64C-6B72A558C461}"/>
              </a:ext>
            </a:extLst>
          </p:cNvPr>
          <p:cNvSpPr/>
          <p:nvPr/>
        </p:nvSpPr>
        <p:spPr>
          <a:xfrm>
            <a:off x="48768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BD91BC-9B42-9550-73FB-FCF5906641B4}"/>
              </a:ext>
            </a:extLst>
          </p:cNvPr>
          <p:cNvSpPr/>
          <p:nvPr/>
        </p:nvSpPr>
        <p:spPr>
          <a:xfrm>
            <a:off x="7437120" y="6486144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D03E07-4DD6-4B31-0891-EEFF3B57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6386"/>
            <a:ext cx="12192000" cy="14452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40A8DF-653D-5008-563E-F0CB6D27FBEA}"/>
              </a:ext>
            </a:extLst>
          </p:cNvPr>
          <p:cNvSpPr txBox="1"/>
          <p:nvPr/>
        </p:nvSpPr>
        <p:spPr>
          <a:xfrm>
            <a:off x="2049864" y="511826"/>
            <a:ext cx="730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  New Jira Workflow</a:t>
            </a:r>
            <a:endParaRPr lang="en-IN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21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12"/>
          </a:solidFill>
          <a:ln w="12700">
            <a:solidFill>
              <a:srgbClr val="0A0812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194560" y="2682240"/>
            <a:ext cx="6705600" cy="6705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09760" y="-975360"/>
            <a:ext cx="4876800" cy="48768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>
            <a:solidFill>
              <a:srgbClr val="3B82F6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243840"/>
            <a:ext cx="8534400" cy="6339840"/>
          </a:xfrm>
          <a:prstGeom prst="ellipse">
            <a:avLst/>
          </a:prstGeom>
          <a:solidFill>
            <a:srgbClr val="A855F7">
              <a:alpha val="5000"/>
            </a:srgbClr>
          </a:solidFill>
          <a:ln w="12700">
            <a:solidFill>
              <a:srgbClr val="A855F7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0" y="633984"/>
            <a:ext cx="15849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667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endParaRPr lang="en-US" sz="666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2535936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US" sz="6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9200" y="3560064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i="1" dirty="0">
                <a:solidFill>
                  <a:srgbClr val="A855F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 welcome.</a:t>
            </a:r>
            <a:endParaRPr lang="en-US" sz="2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9200" y="4291584"/>
            <a:ext cx="3169920" cy="176784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38400" y="4462272"/>
            <a:ext cx="75590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📖</a:t>
            </a:r>
            <a:endParaRPr lang="en-US" sz="29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9200" y="5145024"/>
            <a:ext cx="3169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Wiki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9200" y="5510784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github.com/JashBerawala/Pace-Project-Team7/wiki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93920" y="4291584"/>
            <a:ext cx="3169920" cy="176784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13120" y="4462272"/>
            <a:ext cx="75590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💻</a:t>
            </a:r>
            <a:endParaRPr lang="en-US" sz="29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93920" y="5145024"/>
            <a:ext cx="3169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Repo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93920" y="5510784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github.com/JashBerawala/Pace-Project-Team7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68640" y="4291584"/>
            <a:ext cx="3169920" cy="1767840"/>
          </a:xfrm>
          <a:prstGeom prst="rect">
            <a:avLst/>
          </a:prstGeom>
          <a:solidFill>
            <a:srgbClr val="16122A"/>
          </a:solidFill>
          <a:ln w="6350">
            <a:solidFill>
              <a:srgbClr val="2A2248"/>
            </a:solidFill>
            <a:prstDash val="solid"/>
          </a:ln>
          <a:effectLst>
            <a:outerShdw blurRad="228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87840" y="4462272"/>
            <a:ext cx="75590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</a:t>
            </a:r>
            <a:endParaRPr lang="en-US" sz="29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68640" y="5145024"/>
            <a:ext cx="31699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7</a:t>
            </a:r>
            <a:endParaRPr lang="en-US" sz="15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68640" y="5510784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 691  ·  Pace University</a:t>
            </a:r>
            <a:endParaRPr lang="en-US" sz="1133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680" y="6498336"/>
            <a:ext cx="4876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B436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FaceFind  ·  CS 691  ·  Team 7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728960" y="6498336"/>
            <a:ext cx="975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633</TotalTime>
  <Words>1612</Words>
  <Application>Microsoft Office PowerPoint</Application>
  <PresentationFormat>Widescreen</PresentationFormat>
  <Paragraphs>342</Paragraphs>
  <Slides>40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Diagram</vt:lpstr>
      <vt:lpstr>Context Diagram</vt:lpstr>
      <vt:lpstr> ER Diagram</vt:lpstr>
      <vt:lpstr>Sequence Diagram</vt:lpstr>
      <vt:lpstr>State Diagram</vt:lpstr>
      <vt:lpstr>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Cases</vt:lpstr>
      <vt:lpstr>PowerPoint Presentation</vt:lpstr>
      <vt:lpstr>First Page ( Demo)</vt:lpstr>
      <vt:lpstr>Catalog Page</vt:lpstr>
      <vt:lpstr>Register Page</vt:lpstr>
      <vt:lpstr>Login page</vt:lpstr>
      <vt:lpstr>Dashboard Page (after Login)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Berawala, Jash Ketan</dc:creator>
  <cp:lastModifiedBy>Berawala, Jash Ketan</cp:lastModifiedBy>
  <cp:revision>15</cp:revision>
  <cp:lastPrinted>2026-03-11T22:40:54Z</cp:lastPrinted>
  <dcterms:created xsi:type="dcterms:W3CDTF">2026-03-10T05:58:29Z</dcterms:created>
  <dcterms:modified xsi:type="dcterms:W3CDTF">2026-03-11T23:07:11Z</dcterms:modified>
</cp:coreProperties>
</file>